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8.jpg" ContentType="image/jpg"/>
  <Override PartName="/ppt/media/image1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3" r:id="rId13"/>
    <p:sldId id="288" r:id="rId14"/>
    <p:sldId id="300" r:id="rId15"/>
    <p:sldId id="289" r:id="rId16"/>
    <p:sldId id="292" r:id="rId17"/>
    <p:sldId id="302" r:id="rId18"/>
    <p:sldId id="293" r:id="rId19"/>
    <p:sldId id="294" r:id="rId20"/>
    <p:sldId id="301" r:id="rId21"/>
    <p:sldId id="295" r:id="rId22"/>
    <p:sldId id="296" r:id="rId23"/>
    <p:sldId id="299" r:id="rId24"/>
    <p:sldId id="304" r:id="rId25"/>
    <p:sldId id="287" r:id="rId2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2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8700" y="711052"/>
            <a:ext cx="1077742" cy="10777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826" y="674634"/>
            <a:ext cx="16292347" cy="199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339327"/>
            <a:ext cx="16038194" cy="642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7826" y="674634"/>
            <a:ext cx="16292347" cy="1157741"/>
          </a:xfrm>
          <a:prstGeom prst="rect">
            <a:avLst/>
          </a:prstGeom>
        </p:spPr>
        <p:txBody>
          <a:bodyPr vert="horz" wrap="square" lIns="0" tIns="323584" rIns="0" bIns="0" rtlCol="0">
            <a:spAutoFit/>
          </a:bodyPr>
          <a:lstStyle/>
          <a:p>
            <a:pPr marL="889000">
              <a:lnSpc>
                <a:spcPct val="100000"/>
              </a:lnSpc>
              <a:spcBef>
                <a:spcPts val="100"/>
              </a:spcBef>
            </a:pPr>
            <a:r>
              <a:rPr lang="ru-RU" sz="5400" dirty="0"/>
              <a:t>Александр</a:t>
            </a:r>
            <a:endParaRPr sz="54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8826" y="2900250"/>
            <a:ext cx="104775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81606" y="2709813"/>
            <a:ext cx="9596755" cy="4919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545" dirty="0">
                <a:latin typeface="Tahoma"/>
                <a:cs typeface="Tahoma"/>
              </a:rPr>
              <a:t>С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60" dirty="0">
                <a:latin typeface="Tahoma"/>
                <a:cs typeface="Tahoma"/>
              </a:rPr>
              <a:t>1</a:t>
            </a:r>
            <a:r>
              <a:rPr lang="ru-RU" sz="2600" spc="60" dirty="0">
                <a:latin typeface="Tahoma"/>
                <a:cs typeface="Tahoma"/>
              </a:rPr>
              <a:t>7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60" dirty="0">
                <a:latin typeface="Tahoma"/>
                <a:cs typeface="Tahoma"/>
              </a:rPr>
              <a:t>лет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учусь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в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lang="ru-RU" sz="2600" spc="290" dirty="0">
                <a:latin typeface="Tahoma"/>
                <a:cs typeface="Tahoma"/>
              </a:rPr>
              <a:t>Нанкинском университете аэронавтики и астронавтики</a:t>
            </a:r>
            <a:endParaRPr sz="26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 dirty="0">
              <a:latin typeface="Tahoma"/>
              <a:cs typeface="Tahoma"/>
            </a:endParaRPr>
          </a:p>
          <a:p>
            <a:pPr marL="12700" marR="560705">
              <a:lnSpc>
                <a:spcPct val="115399"/>
              </a:lnSpc>
            </a:pPr>
            <a:r>
              <a:rPr sz="2600" spc="390" dirty="0">
                <a:latin typeface="Tahoma"/>
                <a:cs typeface="Tahoma"/>
              </a:rPr>
              <a:t>Имею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0" dirty="0">
                <a:latin typeface="Tahoma"/>
                <a:cs typeface="Tahoma"/>
              </a:rPr>
              <a:t>опыт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40" dirty="0">
                <a:latin typeface="Tahoma"/>
                <a:cs typeface="Tahoma"/>
              </a:rPr>
              <a:t>очного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и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дистанционного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60" dirty="0">
                <a:latin typeface="Tahoma"/>
                <a:cs typeface="Tahoma"/>
              </a:rPr>
              <a:t>обучения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45" dirty="0">
                <a:latin typeface="Tahoma"/>
                <a:cs typeface="Tahoma"/>
              </a:rPr>
              <a:t>в </a:t>
            </a:r>
            <a:r>
              <a:rPr sz="2600" spc="310" dirty="0">
                <a:latin typeface="Tahoma"/>
                <a:cs typeface="Tahoma"/>
              </a:rPr>
              <a:t>Китае</a:t>
            </a:r>
            <a:endParaRPr sz="26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 dirty="0">
              <a:latin typeface="Tahoma"/>
              <a:cs typeface="Tahoma"/>
            </a:endParaRPr>
          </a:p>
          <a:p>
            <a:pPr marL="12700" marR="827405">
              <a:lnSpc>
                <a:spcPct val="115399"/>
              </a:lnSpc>
            </a:pPr>
            <a:r>
              <a:rPr lang="ru-RU" sz="2600" spc="370" dirty="0">
                <a:latin typeface="Tahoma"/>
                <a:cs typeface="Tahoma"/>
              </a:rPr>
              <a:t>Самостоятельно поступил на полный грант на магистратуру</a:t>
            </a:r>
            <a:endParaRPr sz="26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 dirty="0">
              <a:latin typeface="Tahoma"/>
              <a:cs typeface="Tahoma"/>
            </a:endParaRPr>
          </a:p>
          <a:p>
            <a:pPr marL="12700" marR="5080">
              <a:lnSpc>
                <a:spcPct val="115399"/>
              </a:lnSpc>
            </a:pPr>
            <a:r>
              <a:rPr sz="2600" spc="475" dirty="0">
                <a:latin typeface="Tahoma"/>
                <a:cs typeface="Tahoma"/>
              </a:rPr>
              <a:t>Я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300" dirty="0">
                <a:latin typeface="Tahoma"/>
                <a:cs typeface="Tahoma"/>
              </a:rPr>
              <a:t>у</a:t>
            </a:r>
            <a:r>
              <a:rPr lang="ru-RU" sz="2600" spc="300" dirty="0">
                <a:latin typeface="Tahoma"/>
                <a:cs typeface="Tahoma"/>
              </a:rPr>
              <a:t>ч</a:t>
            </a:r>
            <a:r>
              <a:rPr sz="2600" spc="300" dirty="0" err="1">
                <a:latin typeface="Tahoma"/>
                <a:cs typeface="Tahoma"/>
              </a:rPr>
              <a:t>ил</a:t>
            </a:r>
            <a:r>
              <a:rPr lang="ru-RU" sz="2600" spc="300" dirty="0">
                <a:latin typeface="Tahoma"/>
                <a:cs typeface="Tahoma"/>
              </a:rPr>
              <a:t>ся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на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30" dirty="0">
                <a:latin typeface="Tahoma"/>
                <a:cs typeface="Tahoma"/>
              </a:rPr>
              <a:t>двух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04" dirty="0">
                <a:latin typeface="Tahoma"/>
                <a:cs typeface="Tahoma"/>
              </a:rPr>
              <a:t>гратах: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20" dirty="0">
                <a:latin typeface="Tahoma"/>
                <a:cs typeface="Tahoma"/>
              </a:rPr>
              <a:t>Университетском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00" dirty="0">
                <a:latin typeface="Tahoma"/>
                <a:cs typeface="Tahoma"/>
              </a:rPr>
              <a:t>гранте, </a:t>
            </a:r>
            <a:r>
              <a:rPr sz="2600" spc="290" dirty="0">
                <a:latin typeface="Tahoma"/>
                <a:cs typeface="Tahoma"/>
              </a:rPr>
              <a:t>и</a:t>
            </a:r>
            <a:r>
              <a:rPr lang="ru-RU" sz="2600" spc="290" dirty="0">
                <a:latin typeface="Tahoma"/>
                <a:cs typeface="Tahoma"/>
              </a:rPr>
              <a:t> сейчас на </a:t>
            </a:r>
            <a:r>
              <a:rPr lang="en-US" altLang="zh-CN" sz="2600" spc="290" dirty="0">
                <a:latin typeface="Tahoma"/>
                <a:cs typeface="Tahoma"/>
              </a:rPr>
              <a:t>CSC</a:t>
            </a:r>
            <a:endParaRPr sz="260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8826" y="3814650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8826" y="5186250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18826" y="6557850"/>
            <a:ext cx="104775" cy="104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475658-BA74-FAE1-AA12-1E99288B1C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39" y="2187182"/>
            <a:ext cx="4434477" cy="5912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400363"/>
            <a:ext cx="15555594" cy="636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285" dirty="0">
                <a:latin typeface="Tahoma"/>
                <a:cs typeface="Tahoma"/>
              </a:rPr>
              <a:t>Грант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делится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на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440" dirty="0">
                <a:latin typeface="Tahoma"/>
                <a:cs typeface="Tahoma"/>
              </a:rPr>
              <a:t>3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165" dirty="0">
                <a:latin typeface="Tahoma"/>
                <a:cs typeface="Tahoma"/>
              </a:rPr>
              <a:t>типа: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1628139">
              <a:lnSpc>
                <a:spcPct val="115399"/>
              </a:lnSpc>
              <a:tabLst>
                <a:tab pos="5300345" algn="l"/>
              </a:tabLst>
            </a:pPr>
            <a:r>
              <a:rPr sz="2600" spc="310" dirty="0">
                <a:solidFill>
                  <a:srgbClr val="EC5B4E"/>
                </a:solidFill>
                <a:latin typeface="Tahoma"/>
                <a:cs typeface="Tahoma"/>
              </a:rPr>
              <a:t>Тип</a:t>
            </a:r>
            <a:r>
              <a:rPr sz="2600" spc="10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590" dirty="0">
                <a:solidFill>
                  <a:srgbClr val="EC5B4E"/>
                </a:solidFill>
                <a:latin typeface="Tahoma"/>
                <a:cs typeface="Tahoma"/>
              </a:rPr>
              <a:t>А</a:t>
            </a:r>
            <a:r>
              <a:rPr sz="2600" spc="105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EC5B4E"/>
                </a:solidFill>
                <a:latin typeface="Tahoma"/>
                <a:cs typeface="Tahoma"/>
              </a:rPr>
              <a:t>-</a:t>
            </a:r>
            <a:r>
              <a:rPr sz="2600" spc="105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EC5B4E"/>
                </a:solidFill>
                <a:latin typeface="Tahoma"/>
                <a:cs typeface="Tahoma"/>
              </a:rPr>
              <a:t>подача</a:t>
            </a:r>
            <a:r>
              <a:rPr sz="2600" spc="105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EC5B4E"/>
                </a:solidFill>
                <a:latin typeface="Tahoma"/>
                <a:cs typeface="Tahoma"/>
              </a:rPr>
              <a:t>документов</a:t>
            </a:r>
            <a:r>
              <a:rPr sz="2600" dirty="0">
                <a:solidFill>
                  <a:srgbClr val="EC5B4E"/>
                </a:solidFill>
                <a:latin typeface="Tahoma"/>
                <a:cs typeface="Tahoma"/>
              </a:rPr>
              <a:t>	</a:t>
            </a:r>
            <a:r>
              <a:rPr sz="2600" spc="275" dirty="0">
                <a:solidFill>
                  <a:srgbClr val="EC5B4E"/>
                </a:solidFill>
                <a:latin typeface="Tahoma"/>
                <a:cs typeface="Tahoma"/>
              </a:rPr>
              <a:t>через</a:t>
            </a:r>
            <a:r>
              <a:rPr sz="2600" spc="114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310" dirty="0">
                <a:solidFill>
                  <a:srgbClr val="EC5B4E"/>
                </a:solidFill>
                <a:latin typeface="Tahoma"/>
                <a:cs typeface="Tahoma"/>
              </a:rPr>
              <a:t>министерство</a:t>
            </a:r>
            <a:r>
              <a:rPr sz="2600" spc="114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EC5B4E"/>
                </a:solidFill>
                <a:latin typeface="Tahoma"/>
                <a:cs typeface="Tahoma"/>
              </a:rPr>
              <a:t>образования</a:t>
            </a:r>
            <a:r>
              <a:rPr sz="2600" spc="114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570" dirty="0">
                <a:solidFill>
                  <a:srgbClr val="EC5B4E"/>
                </a:solidFill>
                <a:latin typeface="Tahoma"/>
                <a:cs typeface="Tahoma"/>
              </a:rPr>
              <a:t>РФ</a:t>
            </a:r>
            <a:r>
              <a:rPr sz="2600" spc="114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175" dirty="0">
                <a:solidFill>
                  <a:srgbClr val="EC5B4E"/>
                </a:solidFill>
                <a:latin typeface="Tahoma"/>
                <a:cs typeface="Tahoma"/>
              </a:rPr>
              <a:t>(полный) </a:t>
            </a:r>
            <a:r>
              <a:rPr sz="2600" spc="310" dirty="0">
                <a:solidFill>
                  <a:srgbClr val="7DD957"/>
                </a:solidFill>
                <a:latin typeface="Tahoma"/>
                <a:cs typeface="Tahoma"/>
              </a:rPr>
              <a:t>Тип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595" dirty="0">
                <a:solidFill>
                  <a:srgbClr val="7DD957"/>
                </a:solidFill>
                <a:latin typeface="Tahoma"/>
                <a:cs typeface="Tahoma"/>
              </a:rPr>
              <a:t>B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7DD957"/>
                </a:solidFill>
                <a:latin typeface="Tahoma"/>
                <a:cs typeface="Tahoma"/>
              </a:rPr>
              <a:t>-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7DD957"/>
                </a:solidFill>
                <a:latin typeface="Tahoma"/>
                <a:cs typeface="Tahoma"/>
              </a:rPr>
              <a:t>подача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05" dirty="0">
                <a:solidFill>
                  <a:srgbClr val="7DD957"/>
                </a:solidFill>
                <a:latin typeface="Tahoma"/>
                <a:cs typeface="Tahoma"/>
              </a:rPr>
              <a:t>документов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7DD957"/>
                </a:solidFill>
                <a:latin typeface="Tahoma"/>
                <a:cs typeface="Tahoma"/>
              </a:rPr>
              <a:t>в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15" dirty="0">
                <a:solidFill>
                  <a:srgbClr val="7DD957"/>
                </a:solidFill>
                <a:latin typeface="Tahoma"/>
                <a:cs typeface="Tahoma"/>
              </a:rPr>
              <a:t>приемную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45" dirty="0">
                <a:solidFill>
                  <a:srgbClr val="7DD957"/>
                </a:solidFill>
                <a:latin typeface="Tahoma"/>
                <a:cs typeface="Tahoma"/>
              </a:rPr>
              <a:t>комиссию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7DD957"/>
                </a:solidFill>
                <a:latin typeface="Tahoma"/>
                <a:cs typeface="Tahoma"/>
              </a:rPr>
              <a:t>университета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175" dirty="0">
                <a:solidFill>
                  <a:srgbClr val="7DD957"/>
                </a:solidFill>
                <a:latin typeface="Tahoma"/>
                <a:cs typeface="Tahoma"/>
              </a:rPr>
              <a:t>(полный)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5399"/>
              </a:lnSpc>
              <a:tabLst>
                <a:tab pos="1585595" algn="l"/>
              </a:tabLst>
            </a:pPr>
            <a:r>
              <a:rPr sz="2600" spc="310" dirty="0">
                <a:solidFill>
                  <a:srgbClr val="EC5B4E"/>
                </a:solidFill>
                <a:latin typeface="Tahoma"/>
                <a:cs typeface="Tahoma"/>
              </a:rPr>
              <a:t>Тип</a:t>
            </a:r>
            <a:r>
              <a:rPr sz="2600" spc="10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545" dirty="0">
                <a:solidFill>
                  <a:srgbClr val="EC5B4E"/>
                </a:solidFill>
                <a:latin typeface="Tahoma"/>
                <a:cs typeface="Tahoma"/>
              </a:rPr>
              <a:t>С</a:t>
            </a:r>
            <a:r>
              <a:rPr sz="2600" spc="10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15" dirty="0">
                <a:solidFill>
                  <a:srgbClr val="EC5B4E"/>
                </a:solidFill>
                <a:latin typeface="Tahoma"/>
                <a:cs typeface="Tahoma"/>
              </a:rPr>
              <a:t>-</a:t>
            </a:r>
            <a:r>
              <a:rPr sz="2600" dirty="0">
                <a:solidFill>
                  <a:srgbClr val="EC5B4E"/>
                </a:solidFill>
                <a:latin typeface="Tahoma"/>
                <a:cs typeface="Tahoma"/>
              </a:rPr>
              <a:t>	</a:t>
            </a:r>
            <a:r>
              <a:rPr sz="2600" spc="275" dirty="0">
                <a:solidFill>
                  <a:srgbClr val="EC5B4E"/>
                </a:solidFill>
                <a:latin typeface="Tahoma"/>
                <a:cs typeface="Tahoma"/>
              </a:rPr>
              <a:t>включает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EC5B4E"/>
                </a:solidFill>
                <a:latin typeface="Tahoma"/>
                <a:cs typeface="Tahoma"/>
              </a:rPr>
              <a:t>в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EC5B4E"/>
                </a:solidFill>
                <a:latin typeface="Tahoma"/>
                <a:cs typeface="Tahoma"/>
              </a:rPr>
              <a:t>себя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315" dirty="0">
                <a:solidFill>
                  <a:srgbClr val="EC5B4E"/>
                </a:solidFill>
                <a:latin typeface="Tahoma"/>
                <a:cs typeface="Tahoma"/>
              </a:rPr>
              <a:t>лишь</a:t>
            </a:r>
            <a:r>
              <a:rPr sz="2600" spc="114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EC5B4E"/>
                </a:solidFill>
                <a:latin typeface="Tahoma"/>
                <a:cs typeface="Tahoma"/>
              </a:rPr>
              <a:t>половину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EC5B4E"/>
                </a:solidFill>
                <a:latin typeface="Tahoma"/>
                <a:cs typeface="Tahoma"/>
              </a:rPr>
              <a:t>стипендии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10" dirty="0">
                <a:solidFill>
                  <a:srgbClr val="EC5B4E"/>
                </a:solidFill>
                <a:latin typeface="Tahoma"/>
                <a:cs typeface="Tahoma"/>
              </a:rPr>
              <a:t>(только</a:t>
            </a:r>
            <a:r>
              <a:rPr sz="2600" spc="114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EC5B4E"/>
                </a:solidFill>
                <a:latin typeface="Tahoma"/>
                <a:cs typeface="Tahoma"/>
              </a:rPr>
              <a:t>проживание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EC5B4E"/>
                </a:solidFill>
                <a:latin typeface="Tahoma"/>
                <a:cs typeface="Tahoma"/>
              </a:rPr>
              <a:t>или</a:t>
            </a:r>
            <a:r>
              <a:rPr sz="2600" spc="110" dirty="0">
                <a:solidFill>
                  <a:srgbClr val="EC5B4E"/>
                </a:solidFill>
                <a:latin typeface="Tahoma"/>
                <a:cs typeface="Tahoma"/>
              </a:rPr>
              <a:t> </a:t>
            </a:r>
            <a:r>
              <a:rPr sz="2600" spc="260" dirty="0">
                <a:solidFill>
                  <a:srgbClr val="EC5B4E"/>
                </a:solidFill>
                <a:latin typeface="Tahoma"/>
                <a:cs typeface="Tahoma"/>
              </a:rPr>
              <a:t>только </a:t>
            </a:r>
            <a:r>
              <a:rPr sz="2600" spc="175" dirty="0">
                <a:solidFill>
                  <a:srgbClr val="EC5B4E"/>
                </a:solidFill>
                <a:latin typeface="Tahoma"/>
                <a:cs typeface="Tahoma"/>
              </a:rPr>
              <a:t>обучение).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1484630">
              <a:lnSpc>
                <a:spcPct val="115399"/>
              </a:lnSpc>
            </a:pPr>
            <a:r>
              <a:rPr sz="2600" spc="335" dirty="0">
                <a:latin typeface="Tahoma"/>
                <a:cs typeface="Tahoma"/>
              </a:rPr>
              <a:t>Полный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60" dirty="0">
                <a:latin typeface="Tahoma"/>
                <a:cs typeface="Tahoma"/>
              </a:rPr>
              <a:t>грант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40" dirty="0">
                <a:latin typeface="Tahoma"/>
                <a:cs typeface="Tahoma"/>
              </a:rPr>
              <a:t>покрывает: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25" dirty="0">
                <a:latin typeface="Tahoma"/>
                <a:cs typeface="Tahoma"/>
              </a:rPr>
              <a:t>обучение,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проживание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и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30" dirty="0">
                <a:latin typeface="Tahoma"/>
                <a:cs typeface="Tahoma"/>
              </a:rPr>
              <a:t>медицинскую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50" dirty="0">
                <a:latin typeface="Tahoma"/>
                <a:cs typeface="Tahoma"/>
              </a:rPr>
              <a:t>страховку. </a:t>
            </a:r>
            <a:r>
              <a:rPr sz="2600" spc="325" dirty="0">
                <a:latin typeface="Tahoma"/>
                <a:cs typeface="Tahoma"/>
              </a:rPr>
              <a:t>Ежемесячно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25" dirty="0">
                <a:latin typeface="Tahoma"/>
                <a:cs typeface="Tahoma"/>
              </a:rPr>
              <a:t>студентам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выплачивается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25" dirty="0">
                <a:latin typeface="Tahoma"/>
                <a:cs typeface="Tahoma"/>
              </a:rPr>
              <a:t>пособие.</a:t>
            </a:r>
            <a:endParaRPr sz="2600">
              <a:latin typeface="Tahoma"/>
              <a:cs typeface="Tahoma"/>
            </a:endParaRPr>
          </a:p>
          <a:p>
            <a:pPr marL="12700" marR="1141095">
              <a:lnSpc>
                <a:spcPct val="115399"/>
              </a:lnSpc>
            </a:pPr>
            <a:r>
              <a:rPr sz="2600" spc="440" dirty="0">
                <a:solidFill>
                  <a:srgbClr val="535353"/>
                </a:solidFill>
                <a:latin typeface="Tahoma"/>
                <a:cs typeface="Tahoma"/>
              </a:rPr>
              <a:t>Сумма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ежемесячного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0" dirty="0">
                <a:solidFill>
                  <a:srgbClr val="535353"/>
                </a:solidFill>
                <a:latin typeface="Tahoma"/>
                <a:cs typeface="Tahoma"/>
              </a:rPr>
              <a:t>пособия: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30" dirty="0">
                <a:solidFill>
                  <a:srgbClr val="535353"/>
                </a:solidFill>
                <a:latin typeface="Tahoma"/>
                <a:cs typeface="Tahoma"/>
              </a:rPr>
              <a:t>2500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юаней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для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бакалавров.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85" dirty="0">
                <a:solidFill>
                  <a:srgbClr val="535353"/>
                </a:solidFill>
                <a:latin typeface="Tahoma"/>
                <a:cs typeface="Tahoma"/>
              </a:rPr>
              <a:t>3000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юаней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535353"/>
                </a:solidFill>
                <a:latin typeface="Tahoma"/>
                <a:cs typeface="Tahoma"/>
              </a:rPr>
              <a:t>для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магистратуры.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40" dirty="0">
                <a:solidFill>
                  <a:srgbClr val="535353"/>
                </a:solidFill>
                <a:latin typeface="Tahoma"/>
                <a:cs typeface="Tahoma"/>
              </a:rPr>
              <a:t>3500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юаней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4" dirty="0">
                <a:solidFill>
                  <a:srgbClr val="535353"/>
                </a:solidFill>
                <a:latin typeface="Tahoma"/>
                <a:cs typeface="Tahoma"/>
              </a:rPr>
              <a:t>докторантуры.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1308100">
              <a:lnSpc>
                <a:spcPct val="115399"/>
              </a:lnSpc>
            </a:pPr>
            <a:r>
              <a:rPr sz="2600" spc="340" dirty="0">
                <a:latin typeface="Tahoma"/>
                <a:cs typeface="Tahoma"/>
              </a:rPr>
              <a:t>Результаты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поступления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приходят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в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10" dirty="0">
                <a:latin typeface="Tahoma"/>
                <a:cs typeface="Tahoma"/>
              </a:rPr>
              <a:t>июне,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могут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315" dirty="0">
                <a:latin typeface="Tahoma"/>
                <a:cs typeface="Tahoma"/>
              </a:rPr>
              <a:t>запоздать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до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начала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190" dirty="0">
                <a:latin typeface="Tahoma"/>
                <a:cs typeface="Tahoma"/>
              </a:rPr>
              <a:t>июля. </a:t>
            </a:r>
            <a:r>
              <a:rPr sz="2600" spc="335" dirty="0">
                <a:latin typeface="Tahoma"/>
                <a:cs typeface="Tahoma"/>
              </a:rPr>
              <a:t>Срок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подачи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документов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до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конца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00" dirty="0">
                <a:latin typeface="Tahoma"/>
                <a:cs typeface="Tahoma"/>
              </a:rPr>
              <a:t>февраля.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0264" y="999235"/>
            <a:ext cx="1152461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590" dirty="0"/>
              <a:t>Правительственный</a:t>
            </a:r>
            <a:r>
              <a:rPr sz="5000" spc="195" dirty="0"/>
              <a:t> </a:t>
            </a:r>
            <a:r>
              <a:rPr sz="5000" spc="505" dirty="0"/>
              <a:t>грант</a:t>
            </a:r>
            <a:r>
              <a:rPr sz="5000" spc="200" dirty="0"/>
              <a:t> </a:t>
            </a:r>
            <a:r>
              <a:rPr sz="5000" spc="509" dirty="0"/>
              <a:t>(CSC)</a:t>
            </a:r>
            <a:endParaRPr sz="5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711052"/>
            <a:ext cx="1077742" cy="1077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400363"/>
            <a:ext cx="14509750" cy="5450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285" dirty="0">
                <a:latin typeface="Tahoma"/>
                <a:cs typeface="Tahoma"/>
              </a:rPr>
              <a:t>Грант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делится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на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95" dirty="0">
                <a:latin typeface="Tahoma"/>
                <a:cs typeface="Tahoma"/>
              </a:rPr>
              <a:t>2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165" dirty="0">
                <a:latin typeface="Tahoma"/>
                <a:cs typeface="Tahoma"/>
              </a:rPr>
              <a:t>типа: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600" spc="310" dirty="0">
                <a:solidFill>
                  <a:srgbClr val="7DD957"/>
                </a:solidFill>
                <a:latin typeface="Tahoma"/>
                <a:cs typeface="Tahoma"/>
              </a:rPr>
              <a:t>Тип</a:t>
            </a:r>
            <a:r>
              <a:rPr sz="2600" spc="10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590" dirty="0">
                <a:solidFill>
                  <a:srgbClr val="7DD957"/>
                </a:solidFill>
                <a:latin typeface="Tahoma"/>
                <a:cs typeface="Tahoma"/>
              </a:rPr>
              <a:t>А</a:t>
            </a:r>
            <a:r>
              <a:rPr sz="2600" spc="10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7DD957"/>
                </a:solidFill>
                <a:latin typeface="Tahoma"/>
                <a:cs typeface="Tahoma"/>
              </a:rPr>
              <a:t>-</a:t>
            </a:r>
            <a:r>
              <a:rPr sz="2600" spc="10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7DD957"/>
                </a:solidFill>
                <a:latin typeface="Tahoma"/>
                <a:cs typeface="Tahoma"/>
              </a:rPr>
              <a:t>для</a:t>
            </a:r>
            <a:r>
              <a:rPr sz="2600" spc="10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25" dirty="0">
                <a:solidFill>
                  <a:srgbClr val="7DD957"/>
                </a:solidFill>
                <a:latin typeface="Tahoma"/>
                <a:cs typeface="Tahoma"/>
              </a:rPr>
              <a:t>желающих</a:t>
            </a:r>
            <a:r>
              <a:rPr sz="2600" spc="10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7DD957"/>
                </a:solidFill>
                <a:latin typeface="Tahoma"/>
                <a:cs typeface="Tahoma"/>
              </a:rPr>
              <a:t>поступить</a:t>
            </a:r>
            <a:r>
              <a:rPr sz="2600" spc="10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7DD957"/>
                </a:solidFill>
                <a:latin typeface="Tahoma"/>
                <a:cs typeface="Tahoma"/>
              </a:rPr>
              <a:t>на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7DD957"/>
                </a:solidFill>
                <a:latin typeface="Tahoma"/>
                <a:cs typeface="Tahoma"/>
              </a:rPr>
              <a:t>бакалавриат/магистратуры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spc="310" dirty="0">
                <a:solidFill>
                  <a:srgbClr val="7DD957"/>
                </a:solidFill>
                <a:latin typeface="Tahoma"/>
                <a:cs typeface="Tahoma"/>
              </a:rPr>
              <a:t>Тип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595" dirty="0">
                <a:solidFill>
                  <a:srgbClr val="7DD957"/>
                </a:solidFill>
                <a:latin typeface="Tahoma"/>
                <a:cs typeface="Tahoma"/>
              </a:rPr>
              <a:t>B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7DD957"/>
                </a:solidFill>
                <a:latin typeface="Tahoma"/>
                <a:cs typeface="Tahoma"/>
              </a:rPr>
              <a:t>-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7DD957"/>
                </a:solidFill>
                <a:latin typeface="Tahoma"/>
                <a:cs typeface="Tahoma"/>
              </a:rPr>
              <a:t>представляется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7DD957"/>
                </a:solidFill>
                <a:latin typeface="Tahoma"/>
                <a:cs typeface="Tahoma"/>
              </a:rPr>
              <a:t>студентам,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45" dirty="0">
                <a:solidFill>
                  <a:srgbClr val="7DD957"/>
                </a:solidFill>
                <a:latin typeface="Tahoma"/>
                <a:cs typeface="Tahoma"/>
              </a:rPr>
              <a:t>желающим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7DD957"/>
                </a:solidFill>
                <a:latin typeface="Tahoma"/>
                <a:cs typeface="Tahoma"/>
              </a:rPr>
              <a:t>поступить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7DD957"/>
                </a:solidFill>
                <a:latin typeface="Tahoma"/>
                <a:cs typeface="Tahoma"/>
              </a:rPr>
              <a:t>на</a:t>
            </a:r>
            <a:r>
              <a:rPr sz="2600" spc="105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325" dirty="0">
                <a:solidFill>
                  <a:srgbClr val="7DD957"/>
                </a:solidFill>
                <a:latin typeface="Tahoma"/>
                <a:cs typeface="Tahoma"/>
              </a:rPr>
              <a:t>языковые</a:t>
            </a:r>
            <a:r>
              <a:rPr sz="2600" spc="110" dirty="0">
                <a:solidFill>
                  <a:srgbClr val="7DD957"/>
                </a:solidFill>
                <a:latin typeface="Tahoma"/>
                <a:cs typeface="Tahoma"/>
              </a:rPr>
              <a:t> </a:t>
            </a:r>
            <a:r>
              <a:rPr sz="2600" spc="260" dirty="0">
                <a:solidFill>
                  <a:srgbClr val="7DD957"/>
                </a:solidFill>
                <a:latin typeface="Tahoma"/>
                <a:cs typeface="Tahoma"/>
              </a:rPr>
              <a:t>курсы.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438784">
              <a:lnSpc>
                <a:spcPct val="115399"/>
              </a:lnSpc>
            </a:pPr>
            <a:r>
              <a:rPr sz="2600" spc="335" dirty="0">
                <a:latin typeface="Tahoma"/>
                <a:cs typeface="Tahoma"/>
              </a:rPr>
              <a:t>Полный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60" dirty="0">
                <a:latin typeface="Tahoma"/>
                <a:cs typeface="Tahoma"/>
              </a:rPr>
              <a:t>грант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40" dirty="0">
                <a:latin typeface="Tahoma"/>
                <a:cs typeface="Tahoma"/>
              </a:rPr>
              <a:t>покрывает: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25" dirty="0">
                <a:latin typeface="Tahoma"/>
                <a:cs typeface="Tahoma"/>
              </a:rPr>
              <a:t>обучение,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проживание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и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30" dirty="0">
                <a:latin typeface="Tahoma"/>
                <a:cs typeface="Tahoma"/>
              </a:rPr>
              <a:t>медицинскую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50" dirty="0">
                <a:latin typeface="Tahoma"/>
                <a:cs typeface="Tahoma"/>
              </a:rPr>
              <a:t>страховку. </a:t>
            </a:r>
            <a:r>
              <a:rPr sz="2600" spc="325" dirty="0">
                <a:latin typeface="Tahoma"/>
                <a:cs typeface="Tahoma"/>
              </a:rPr>
              <a:t>Ежемесячно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25" dirty="0">
                <a:latin typeface="Tahoma"/>
                <a:cs typeface="Tahoma"/>
              </a:rPr>
              <a:t>студентам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выплачивается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25" dirty="0">
                <a:latin typeface="Tahoma"/>
                <a:cs typeface="Tahoma"/>
              </a:rPr>
              <a:t>пособие.</a:t>
            </a:r>
            <a:endParaRPr sz="2600">
              <a:latin typeface="Tahoma"/>
              <a:cs typeface="Tahoma"/>
            </a:endParaRPr>
          </a:p>
          <a:p>
            <a:pPr marL="12700" marR="95250">
              <a:lnSpc>
                <a:spcPct val="115399"/>
              </a:lnSpc>
            </a:pPr>
            <a:r>
              <a:rPr sz="2600" spc="440" dirty="0">
                <a:solidFill>
                  <a:srgbClr val="535353"/>
                </a:solidFill>
                <a:latin typeface="Tahoma"/>
                <a:cs typeface="Tahoma"/>
              </a:rPr>
              <a:t>Сумма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ежемесячного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0" dirty="0">
                <a:solidFill>
                  <a:srgbClr val="535353"/>
                </a:solidFill>
                <a:latin typeface="Tahoma"/>
                <a:cs typeface="Tahoma"/>
              </a:rPr>
              <a:t>пособия: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30" dirty="0">
                <a:solidFill>
                  <a:srgbClr val="535353"/>
                </a:solidFill>
                <a:latin typeface="Tahoma"/>
                <a:cs typeface="Tahoma"/>
              </a:rPr>
              <a:t>2500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юаней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для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бакалавров.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85" dirty="0">
                <a:solidFill>
                  <a:srgbClr val="535353"/>
                </a:solidFill>
                <a:latin typeface="Tahoma"/>
                <a:cs typeface="Tahoma"/>
              </a:rPr>
              <a:t>3000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юаней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535353"/>
                </a:solidFill>
                <a:latin typeface="Tahoma"/>
                <a:cs typeface="Tahoma"/>
              </a:rPr>
              <a:t>для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магистратуры.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40" dirty="0">
                <a:solidFill>
                  <a:srgbClr val="535353"/>
                </a:solidFill>
                <a:latin typeface="Tahoma"/>
                <a:cs typeface="Tahoma"/>
              </a:rPr>
              <a:t>3500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юаней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4" dirty="0">
                <a:solidFill>
                  <a:srgbClr val="535353"/>
                </a:solidFill>
                <a:latin typeface="Tahoma"/>
                <a:cs typeface="Tahoma"/>
              </a:rPr>
              <a:t>докторантуры.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6643370">
              <a:lnSpc>
                <a:spcPct val="115399"/>
              </a:lnSpc>
            </a:pPr>
            <a:r>
              <a:rPr sz="2600" spc="340" dirty="0">
                <a:latin typeface="Tahoma"/>
                <a:cs typeface="Tahoma"/>
              </a:rPr>
              <a:t>Результаты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поступления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приходят</a:t>
            </a:r>
            <a:r>
              <a:rPr sz="2600" spc="125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в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270" dirty="0">
                <a:latin typeface="Tahoma"/>
                <a:cs typeface="Tahoma"/>
              </a:rPr>
              <a:t>июне </a:t>
            </a:r>
            <a:r>
              <a:rPr sz="2600" spc="335" dirty="0">
                <a:latin typeface="Tahoma"/>
                <a:cs typeface="Tahoma"/>
              </a:rPr>
              <a:t>Срок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подачи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документов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до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459" dirty="0">
                <a:latin typeface="Tahoma"/>
                <a:cs typeface="Tahoma"/>
              </a:rPr>
              <a:t>28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45" dirty="0">
                <a:latin typeface="Tahoma"/>
                <a:cs typeface="Tahoma"/>
              </a:rPr>
              <a:t>февраля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0264" y="994950"/>
            <a:ext cx="14369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84" dirty="0"/>
              <a:t>Шелковый</a:t>
            </a:r>
            <a:r>
              <a:rPr sz="4000" spc="160" dirty="0"/>
              <a:t> </a:t>
            </a:r>
            <a:r>
              <a:rPr sz="4000" spc="450" dirty="0"/>
              <a:t>путь</a:t>
            </a:r>
            <a:r>
              <a:rPr sz="4000" spc="165" dirty="0"/>
              <a:t> </a:t>
            </a:r>
            <a:r>
              <a:rPr sz="4000" spc="420" dirty="0"/>
              <a:t>-</a:t>
            </a:r>
            <a:r>
              <a:rPr sz="4000" spc="165" dirty="0"/>
              <a:t> </a:t>
            </a:r>
            <a:r>
              <a:rPr sz="4000" spc="400" dirty="0"/>
              <a:t>грант</a:t>
            </a:r>
            <a:r>
              <a:rPr sz="4000" spc="165" dirty="0"/>
              <a:t> </a:t>
            </a:r>
            <a:r>
              <a:rPr sz="4000" spc="465" dirty="0"/>
              <a:t>Китайского</a:t>
            </a:r>
            <a:r>
              <a:rPr sz="4000" spc="165" dirty="0"/>
              <a:t> </a:t>
            </a:r>
            <a:r>
              <a:rPr sz="4000" spc="440" dirty="0"/>
              <a:t>правительства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711052"/>
            <a:ext cx="1077742" cy="10777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7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85" dirty="0"/>
              <a:t>Грант</a:t>
            </a:r>
            <a:r>
              <a:rPr spc="110" dirty="0"/>
              <a:t> </a:t>
            </a:r>
            <a:r>
              <a:rPr spc="295" dirty="0"/>
              <a:t>делится</a:t>
            </a:r>
            <a:r>
              <a:rPr spc="110" dirty="0"/>
              <a:t> </a:t>
            </a:r>
            <a:r>
              <a:rPr spc="295" dirty="0"/>
              <a:t>на</a:t>
            </a:r>
            <a:r>
              <a:rPr spc="110" dirty="0"/>
              <a:t> </a:t>
            </a:r>
            <a:r>
              <a:rPr spc="395" dirty="0"/>
              <a:t>2</a:t>
            </a:r>
            <a:r>
              <a:rPr spc="114" dirty="0"/>
              <a:t> </a:t>
            </a:r>
            <a:r>
              <a:rPr spc="165" dirty="0"/>
              <a:t>типа: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165" dirty="0"/>
          </a:p>
          <a:p>
            <a:pPr marL="12700" marR="2858770">
              <a:lnSpc>
                <a:spcPct val="115399"/>
              </a:lnSpc>
            </a:pPr>
            <a:r>
              <a:rPr spc="310" dirty="0">
                <a:solidFill>
                  <a:srgbClr val="7DD957"/>
                </a:solidFill>
              </a:rPr>
              <a:t>Тип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590" dirty="0">
                <a:solidFill>
                  <a:srgbClr val="7DD957"/>
                </a:solidFill>
              </a:rPr>
              <a:t>А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65" dirty="0">
                <a:solidFill>
                  <a:srgbClr val="7DD957"/>
                </a:solidFill>
              </a:rPr>
              <a:t>-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300" dirty="0">
                <a:solidFill>
                  <a:srgbClr val="7DD957"/>
                </a:solidFill>
              </a:rPr>
              <a:t>полный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60" dirty="0">
                <a:solidFill>
                  <a:srgbClr val="7DD957"/>
                </a:solidFill>
              </a:rPr>
              <a:t>грант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185" dirty="0">
                <a:solidFill>
                  <a:srgbClr val="7DD957"/>
                </a:solidFill>
              </a:rPr>
              <a:t>(обучение,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50" dirty="0">
                <a:solidFill>
                  <a:srgbClr val="7DD957"/>
                </a:solidFill>
              </a:rPr>
              <a:t>проживание,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330" dirty="0">
                <a:solidFill>
                  <a:srgbClr val="7DD957"/>
                </a:solidFill>
              </a:rPr>
              <a:t>медицинскую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45" dirty="0">
                <a:solidFill>
                  <a:srgbClr val="7DD957"/>
                </a:solidFill>
              </a:rPr>
              <a:t>страховку) </a:t>
            </a:r>
            <a:r>
              <a:rPr spc="310" dirty="0">
                <a:solidFill>
                  <a:srgbClr val="EC5B4E"/>
                </a:solidFill>
              </a:rPr>
              <a:t>Тип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595" dirty="0">
                <a:solidFill>
                  <a:srgbClr val="EC5B4E"/>
                </a:solidFill>
              </a:rPr>
              <a:t>B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-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частичный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15" dirty="0">
                <a:solidFill>
                  <a:srgbClr val="EC5B4E"/>
                </a:solidFill>
              </a:rPr>
              <a:t>(обучение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и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30" dirty="0">
                <a:solidFill>
                  <a:srgbClr val="EC5B4E"/>
                </a:solidFill>
              </a:rPr>
              <a:t>медицинскую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45" dirty="0">
                <a:solidFill>
                  <a:srgbClr val="EC5B4E"/>
                </a:solidFill>
              </a:rPr>
              <a:t>страховку)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245" dirty="0">
              <a:solidFill>
                <a:srgbClr val="EC5B4E"/>
              </a:solidFill>
            </a:endParaRPr>
          </a:p>
          <a:p>
            <a:pPr marL="12700" marR="1967230">
              <a:lnSpc>
                <a:spcPct val="115399"/>
              </a:lnSpc>
            </a:pPr>
            <a:r>
              <a:rPr spc="335" dirty="0"/>
              <a:t>Полный</a:t>
            </a:r>
            <a:r>
              <a:rPr spc="105" dirty="0"/>
              <a:t> </a:t>
            </a:r>
            <a:r>
              <a:rPr spc="260" dirty="0"/>
              <a:t>грант</a:t>
            </a:r>
            <a:r>
              <a:rPr spc="110" dirty="0"/>
              <a:t> </a:t>
            </a:r>
            <a:r>
              <a:rPr spc="240" dirty="0"/>
              <a:t>покрывает:</a:t>
            </a:r>
            <a:r>
              <a:rPr spc="110" dirty="0"/>
              <a:t> </a:t>
            </a:r>
            <a:r>
              <a:rPr spc="225" dirty="0"/>
              <a:t>обучение,</a:t>
            </a:r>
            <a:r>
              <a:rPr spc="110" dirty="0"/>
              <a:t> </a:t>
            </a:r>
            <a:r>
              <a:rPr spc="285" dirty="0"/>
              <a:t>проживание</a:t>
            </a:r>
            <a:r>
              <a:rPr spc="110" dirty="0"/>
              <a:t> </a:t>
            </a:r>
            <a:r>
              <a:rPr spc="290" dirty="0"/>
              <a:t>и</a:t>
            </a:r>
            <a:r>
              <a:rPr spc="110" dirty="0"/>
              <a:t> </a:t>
            </a:r>
            <a:r>
              <a:rPr spc="330" dirty="0"/>
              <a:t>медицинскую</a:t>
            </a:r>
            <a:r>
              <a:rPr spc="110" dirty="0"/>
              <a:t> </a:t>
            </a:r>
            <a:r>
              <a:rPr spc="250" dirty="0"/>
              <a:t>страховку. </a:t>
            </a:r>
            <a:r>
              <a:rPr spc="325" dirty="0"/>
              <a:t>Ежемесячно</a:t>
            </a:r>
            <a:r>
              <a:rPr spc="110" dirty="0"/>
              <a:t> </a:t>
            </a:r>
            <a:r>
              <a:rPr spc="325" dirty="0"/>
              <a:t>студентам</a:t>
            </a:r>
            <a:r>
              <a:rPr spc="114" dirty="0"/>
              <a:t> </a:t>
            </a:r>
            <a:r>
              <a:rPr spc="295" dirty="0"/>
              <a:t>выплачивается</a:t>
            </a:r>
            <a:r>
              <a:rPr spc="114" dirty="0"/>
              <a:t> </a:t>
            </a:r>
            <a:r>
              <a:rPr spc="225" dirty="0"/>
              <a:t>пособие.</a:t>
            </a:r>
          </a:p>
          <a:p>
            <a:pPr marL="12700" marR="5080">
              <a:lnSpc>
                <a:spcPct val="115399"/>
              </a:lnSpc>
            </a:pPr>
            <a:r>
              <a:rPr spc="440" dirty="0">
                <a:solidFill>
                  <a:srgbClr val="535353"/>
                </a:solidFill>
              </a:rPr>
              <a:t>Сумма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ежемесячного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20" dirty="0">
                <a:solidFill>
                  <a:srgbClr val="535353"/>
                </a:solidFill>
              </a:rPr>
              <a:t>пособия: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50" dirty="0">
                <a:solidFill>
                  <a:srgbClr val="535353"/>
                </a:solidFill>
              </a:rPr>
              <a:t>от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495" dirty="0">
                <a:solidFill>
                  <a:srgbClr val="535353"/>
                </a:solidFill>
              </a:rPr>
              <a:t>500-</a:t>
            </a:r>
            <a:r>
              <a:rPr spc="375" dirty="0">
                <a:solidFill>
                  <a:srgbClr val="535353"/>
                </a:solidFill>
              </a:rPr>
              <a:t>1000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00" dirty="0">
                <a:solidFill>
                  <a:srgbClr val="535353"/>
                </a:solidFill>
              </a:rPr>
              <a:t>для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54" dirty="0">
                <a:solidFill>
                  <a:srgbClr val="535353"/>
                </a:solidFill>
              </a:rPr>
              <a:t>бакалавра.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От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375" dirty="0">
                <a:solidFill>
                  <a:srgbClr val="535353"/>
                </a:solidFill>
              </a:rPr>
              <a:t>1000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75" dirty="0">
                <a:solidFill>
                  <a:srgbClr val="535353"/>
                </a:solidFill>
              </a:rPr>
              <a:t>для </a:t>
            </a:r>
            <a:r>
              <a:rPr spc="285" dirty="0">
                <a:solidFill>
                  <a:srgbClr val="535353"/>
                </a:solidFill>
              </a:rPr>
              <a:t>магистратуры.</a:t>
            </a:r>
            <a:r>
              <a:rPr spc="100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От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30" dirty="0">
                <a:solidFill>
                  <a:srgbClr val="535353"/>
                </a:solidFill>
              </a:rPr>
              <a:t>1500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00" dirty="0">
                <a:solidFill>
                  <a:srgbClr val="535353"/>
                </a:solidFill>
              </a:rPr>
              <a:t>для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54" dirty="0">
                <a:solidFill>
                  <a:srgbClr val="535353"/>
                </a:solidFill>
              </a:rPr>
              <a:t>докторантуры.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254" dirty="0">
              <a:solidFill>
                <a:srgbClr val="535353"/>
              </a:solidFill>
            </a:endParaRPr>
          </a:p>
          <a:p>
            <a:pPr marL="12700" marR="6772909">
              <a:lnSpc>
                <a:spcPct val="115399"/>
              </a:lnSpc>
            </a:pPr>
            <a:r>
              <a:rPr spc="340" dirty="0"/>
              <a:t>Результаты</a:t>
            </a:r>
            <a:r>
              <a:rPr spc="114" dirty="0"/>
              <a:t> </a:t>
            </a:r>
            <a:r>
              <a:rPr spc="285" dirty="0"/>
              <a:t>поступления</a:t>
            </a:r>
            <a:r>
              <a:rPr spc="120" dirty="0"/>
              <a:t> </a:t>
            </a:r>
            <a:r>
              <a:rPr spc="280" dirty="0"/>
              <a:t>приходят</a:t>
            </a:r>
            <a:r>
              <a:rPr spc="120" dirty="0"/>
              <a:t> </a:t>
            </a:r>
            <a:r>
              <a:rPr spc="295" dirty="0"/>
              <a:t>в</a:t>
            </a:r>
            <a:r>
              <a:rPr spc="120" dirty="0"/>
              <a:t> </a:t>
            </a:r>
            <a:r>
              <a:rPr spc="275" dirty="0"/>
              <a:t>начале</a:t>
            </a:r>
            <a:r>
              <a:rPr spc="120" dirty="0"/>
              <a:t> </a:t>
            </a:r>
            <a:r>
              <a:rPr spc="270" dirty="0"/>
              <a:t>июля </a:t>
            </a:r>
            <a:r>
              <a:rPr spc="335" dirty="0"/>
              <a:t>Срок</a:t>
            </a:r>
            <a:r>
              <a:rPr spc="120" dirty="0"/>
              <a:t> </a:t>
            </a:r>
            <a:r>
              <a:rPr spc="280" dirty="0"/>
              <a:t>подачи</a:t>
            </a:r>
            <a:r>
              <a:rPr spc="120" dirty="0"/>
              <a:t> </a:t>
            </a:r>
            <a:r>
              <a:rPr spc="305" dirty="0"/>
              <a:t>документов</a:t>
            </a:r>
            <a:r>
              <a:rPr spc="120" dirty="0"/>
              <a:t> </a:t>
            </a:r>
            <a:r>
              <a:rPr spc="290" dirty="0"/>
              <a:t>разнятся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0264" y="994950"/>
            <a:ext cx="66668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80" dirty="0"/>
              <a:t>Провинциальный</a:t>
            </a:r>
            <a:r>
              <a:rPr sz="4000" spc="165" dirty="0"/>
              <a:t> </a:t>
            </a:r>
            <a:r>
              <a:rPr sz="4000" spc="390" dirty="0"/>
              <a:t>грант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46" y="702498"/>
            <a:ext cx="1086296" cy="1086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pc="285" dirty="0"/>
              <a:t>Грант</a:t>
            </a:r>
            <a:r>
              <a:rPr spc="110" dirty="0"/>
              <a:t> </a:t>
            </a:r>
            <a:r>
              <a:rPr spc="295" dirty="0"/>
              <a:t>делится</a:t>
            </a:r>
            <a:r>
              <a:rPr spc="110" dirty="0"/>
              <a:t> </a:t>
            </a:r>
            <a:r>
              <a:rPr spc="295" dirty="0"/>
              <a:t>на</a:t>
            </a:r>
            <a:r>
              <a:rPr spc="110" dirty="0"/>
              <a:t> </a:t>
            </a:r>
            <a:r>
              <a:rPr spc="440" dirty="0"/>
              <a:t>3</a:t>
            </a:r>
            <a:r>
              <a:rPr spc="110" dirty="0"/>
              <a:t> </a:t>
            </a:r>
            <a:r>
              <a:rPr spc="165" dirty="0"/>
              <a:t>типа:</a:t>
            </a:r>
          </a:p>
          <a:p>
            <a:pPr marL="12700" marR="1226185">
              <a:lnSpc>
                <a:spcPct val="115399"/>
              </a:lnSpc>
            </a:pPr>
            <a:r>
              <a:rPr spc="310" dirty="0">
                <a:solidFill>
                  <a:srgbClr val="7DD957"/>
                </a:solidFill>
              </a:rPr>
              <a:t>Тип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590" dirty="0">
                <a:solidFill>
                  <a:srgbClr val="7DD957"/>
                </a:solidFill>
              </a:rPr>
              <a:t>А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65" dirty="0">
                <a:solidFill>
                  <a:srgbClr val="7DD957"/>
                </a:solidFill>
              </a:rPr>
              <a:t>-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75" dirty="0">
                <a:solidFill>
                  <a:srgbClr val="7DD957"/>
                </a:solidFill>
              </a:rPr>
              <a:t>включает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95" dirty="0">
                <a:solidFill>
                  <a:srgbClr val="7DD957"/>
                </a:solidFill>
              </a:rPr>
              <a:t>в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90" dirty="0">
                <a:solidFill>
                  <a:srgbClr val="7DD957"/>
                </a:solidFill>
              </a:rPr>
              <a:t>себя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90" dirty="0">
                <a:solidFill>
                  <a:srgbClr val="7DD957"/>
                </a:solidFill>
              </a:rPr>
              <a:t>полную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320" dirty="0">
                <a:solidFill>
                  <a:srgbClr val="7DD957"/>
                </a:solidFill>
              </a:rPr>
              <a:t>стоимость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50" dirty="0">
                <a:solidFill>
                  <a:srgbClr val="7DD957"/>
                </a:solidFill>
              </a:rPr>
              <a:t>проживания,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60" dirty="0">
                <a:solidFill>
                  <a:srgbClr val="7DD957"/>
                </a:solidFill>
              </a:rPr>
              <a:t>обучения</a:t>
            </a:r>
            <a:r>
              <a:rPr spc="114" dirty="0">
                <a:solidFill>
                  <a:srgbClr val="7DD957"/>
                </a:solidFill>
              </a:rPr>
              <a:t> </a:t>
            </a:r>
            <a:r>
              <a:rPr spc="290" dirty="0">
                <a:solidFill>
                  <a:srgbClr val="7DD957"/>
                </a:solidFill>
              </a:rPr>
              <a:t>и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300" dirty="0">
                <a:solidFill>
                  <a:srgbClr val="7DD957"/>
                </a:solidFill>
              </a:rPr>
              <a:t>чаще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65" dirty="0">
                <a:solidFill>
                  <a:srgbClr val="7DD957"/>
                </a:solidFill>
              </a:rPr>
              <a:t>всего </a:t>
            </a:r>
            <a:r>
              <a:rPr spc="330" dirty="0">
                <a:solidFill>
                  <a:srgbClr val="7DD957"/>
                </a:solidFill>
              </a:rPr>
              <a:t>медицинскую</a:t>
            </a:r>
            <a:r>
              <a:rPr spc="114" dirty="0">
                <a:solidFill>
                  <a:srgbClr val="7DD957"/>
                </a:solidFill>
              </a:rPr>
              <a:t> </a:t>
            </a:r>
            <a:r>
              <a:rPr spc="260" dirty="0">
                <a:solidFill>
                  <a:srgbClr val="7DD957"/>
                </a:solidFill>
              </a:rPr>
              <a:t>страховку,</a:t>
            </a:r>
            <a:r>
              <a:rPr spc="114" dirty="0">
                <a:solidFill>
                  <a:srgbClr val="7DD957"/>
                </a:solidFill>
              </a:rPr>
              <a:t> </a:t>
            </a:r>
            <a:r>
              <a:rPr spc="280" dirty="0">
                <a:solidFill>
                  <a:srgbClr val="7DD957"/>
                </a:solidFill>
              </a:rPr>
              <a:t>иногда</a:t>
            </a:r>
            <a:r>
              <a:rPr spc="114" dirty="0">
                <a:solidFill>
                  <a:srgbClr val="7DD957"/>
                </a:solidFill>
              </a:rPr>
              <a:t> </a:t>
            </a:r>
            <a:r>
              <a:rPr spc="305" dirty="0">
                <a:solidFill>
                  <a:srgbClr val="7DD957"/>
                </a:solidFill>
              </a:rPr>
              <a:t>есть</a:t>
            </a:r>
            <a:r>
              <a:rPr spc="120" dirty="0">
                <a:solidFill>
                  <a:srgbClr val="7DD957"/>
                </a:solidFill>
              </a:rPr>
              <a:t> </a:t>
            </a:r>
            <a:r>
              <a:rPr spc="315" dirty="0">
                <a:solidFill>
                  <a:srgbClr val="7DD957"/>
                </a:solidFill>
              </a:rPr>
              <a:t>ежемесячные</a:t>
            </a:r>
            <a:r>
              <a:rPr spc="114" dirty="0">
                <a:solidFill>
                  <a:srgbClr val="7DD957"/>
                </a:solidFill>
              </a:rPr>
              <a:t> </a:t>
            </a:r>
            <a:r>
              <a:rPr spc="260" dirty="0">
                <a:solidFill>
                  <a:srgbClr val="7DD957"/>
                </a:solidFill>
              </a:rPr>
              <a:t>выплаты.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pc="310" dirty="0">
                <a:solidFill>
                  <a:srgbClr val="EC5B4E"/>
                </a:solidFill>
              </a:rPr>
              <a:t>Тип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595" dirty="0">
                <a:solidFill>
                  <a:srgbClr val="EC5B4E"/>
                </a:solidFill>
              </a:rPr>
              <a:t>B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-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10" dirty="0">
                <a:solidFill>
                  <a:srgbClr val="EC5B4E"/>
                </a:solidFill>
              </a:rPr>
              <a:t>Тип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595" dirty="0">
                <a:solidFill>
                  <a:srgbClr val="EC5B4E"/>
                </a:solidFill>
              </a:rPr>
              <a:t>B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75" dirty="0">
                <a:solidFill>
                  <a:srgbClr val="EC5B4E"/>
                </a:solidFill>
              </a:rPr>
              <a:t>включат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в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себя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либо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25" dirty="0">
                <a:solidFill>
                  <a:srgbClr val="EC5B4E"/>
                </a:solidFill>
              </a:rPr>
              <a:t>обучение,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либо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75" dirty="0">
                <a:solidFill>
                  <a:srgbClr val="EC5B4E"/>
                </a:solidFill>
              </a:rPr>
              <a:t>проживание</a:t>
            </a:r>
          </a:p>
          <a:p>
            <a:pPr marL="12700" marR="1628775">
              <a:lnSpc>
                <a:spcPct val="115399"/>
              </a:lnSpc>
              <a:tabLst>
                <a:tab pos="4337050" algn="l"/>
              </a:tabLst>
            </a:pPr>
            <a:r>
              <a:rPr spc="310" dirty="0">
                <a:solidFill>
                  <a:srgbClr val="EC5B4E"/>
                </a:solidFill>
              </a:rPr>
              <a:t>Тип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545" dirty="0">
                <a:solidFill>
                  <a:srgbClr val="EC5B4E"/>
                </a:solidFill>
              </a:rPr>
              <a:t>С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-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35" dirty="0">
                <a:solidFill>
                  <a:srgbClr val="EC5B4E"/>
                </a:solidFill>
              </a:rPr>
              <a:t>Выделяется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80" dirty="0">
                <a:solidFill>
                  <a:srgbClr val="EC5B4E"/>
                </a:solidFill>
              </a:rPr>
              <a:t>определенная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415" dirty="0">
                <a:solidFill>
                  <a:srgbClr val="EC5B4E"/>
                </a:solidFill>
              </a:rPr>
              <a:t>сумма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в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75" dirty="0">
                <a:solidFill>
                  <a:srgbClr val="EC5B4E"/>
                </a:solidFill>
              </a:rPr>
              <a:t>год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на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на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руки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и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60" dirty="0">
                <a:solidFill>
                  <a:srgbClr val="EC5B4E"/>
                </a:solidFill>
              </a:rPr>
              <a:t>вы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80" dirty="0">
                <a:solidFill>
                  <a:srgbClr val="EC5B4E"/>
                </a:solidFill>
              </a:rPr>
              <a:t>сами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15" dirty="0">
                <a:solidFill>
                  <a:srgbClr val="EC5B4E"/>
                </a:solidFill>
              </a:rPr>
              <a:t>должны </a:t>
            </a:r>
            <a:r>
              <a:rPr spc="310" dirty="0">
                <a:solidFill>
                  <a:srgbClr val="EC5B4E"/>
                </a:solidFill>
              </a:rPr>
              <a:t>используя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00" dirty="0">
                <a:solidFill>
                  <a:srgbClr val="EC5B4E"/>
                </a:solidFill>
              </a:rPr>
              <a:t>эти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15" dirty="0">
                <a:solidFill>
                  <a:srgbClr val="EC5B4E"/>
                </a:solidFill>
              </a:rPr>
              <a:t>деньги,</a:t>
            </a:r>
            <a:r>
              <a:rPr dirty="0">
                <a:solidFill>
                  <a:srgbClr val="EC5B4E"/>
                </a:solidFill>
              </a:rPr>
              <a:t>	</a:t>
            </a:r>
            <a:r>
              <a:rPr spc="270" dirty="0">
                <a:solidFill>
                  <a:srgbClr val="EC5B4E"/>
                </a:solidFill>
              </a:rPr>
              <a:t>чтобы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55" dirty="0">
                <a:solidFill>
                  <a:srgbClr val="EC5B4E"/>
                </a:solidFill>
              </a:rPr>
              <a:t>за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20" dirty="0">
                <a:solidFill>
                  <a:srgbClr val="EC5B4E"/>
                </a:solidFill>
              </a:rPr>
              <a:t>всё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платить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265" dirty="0">
              <a:solidFill>
                <a:srgbClr val="EC5B4E"/>
              </a:solidFill>
            </a:endParaRPr>
          </a:p>
          <a:p>
            <a:pPr marL="12700" marR="2917825">
              <a:lnSpc>
                <a:spcPct val="115399"/>
              </a:lnSpc>
            </a:pPr>
            <a:r>
              <a:rPr spc="345" dirty="0"/>
              <a:t>Покрываемые</a:t>
            </a:r>
            <a:r>
              <a:rPr spc="110" dirty="0"/>
              <a:t> </a:t>
            </a:r>
            <a:r>
              <a:rPr spc="335" dirty="0"/>
              <a:t>расходы</a:t>
            </a:r>
            <a:r>
              <a:rPr spc="114" dirty="0"/>
              <a:t> </a:t>
            </a:r>
            <a:r>
              <a:rPr spc="270" dirty="0"/>
              <a:t>по</a:t>
            </a:r>
            <a:r>
              <a:rPr spc="114" dirty="0"/>
              <a:t> </a:t>
            </a:r>
            <a:r>
              <a:rPr spc="270" dirty="0"/>
              <a:t>гранту</a:t>
            </a:r>
            <a:r>
              <a:rPr spc="114" dirty="0"/>
              <a:t> </a:t>
            </a:r>
            <a:r>
              <a:rPr spc="305" dirty="0"/>
              <a:t>могут</a:t>
            </a:r>
            <a:r>
              <a:rPr spc="114" dirty="0"/>
              <a:t> </a:t>
            </a:r>
            <a:r>
              <a:rPr spc="275" dirty="0"/>
              <a:t>отличаться</a:t>
            </a:r>
            <a:r>
              <a:rPr spc="114" dirty="0"/>
              <a:t> </a:t>
            </a:r>
            <a:r>
              <a:rPr spc="250" dirty="0"/>
              <a:t>от</a:t>
            </a:r>
            <a:r>
              <a:rPr spc="114" dirty="0"/>
              <a:t> </a:t>
            </a:r>
            <a:r>
              <a:rPr spc="275" dirty="0"/>
              <a:t>города</a:t>
            </a:r>
            <a:r>
              <a:rPr spc="114" dirty="0"/>
              <a:t> </a:t>
            </a:r>
            <a:r>
              <a:rPr spc="285" dirty="0"/>
              <a:t>к</a:t>
            </a:r>
            <a:r>
              <a:rPr spc="114" dirty="0"/>
              <a:t> </a:t>
            </a:r>
            <a:r>
              <a:rPr spc="270" dirty="0"/>
              <a:t>городу </a:t>
            </a:r>
            <a:r>
              <a:rPr spc="325" dirty="0"/>
              <a:t>Ежемесячно</a:t>
            </a:r>
            <a:r>
              <a:rPr spc="110" dirty="0"/>
              <a:t> </a:t>
            </a:r>
            <a:r>
              <a:rPr spc="325" dirty="0"/>
              <a:t>студентам</a:t>
            </a:r>
            <a:r>
              <a:rPr spc="114" dirty="0"/>
              <a:t> </a:t>
            </a:r>
            <a:r>
              <a:rPr spc="295" dirty="0"/>
              <a:t>выплачивается</a:t>
            </a:r>
            <a:r>
              <a:rPr spc="114" dirty="0"/>
              <a:t> </a:t>
            </a:r>
            <a:r>
              <a:rPr spc="225" dirty="0"/>
              <a:t>пособие.</a:t>
            </a:r>
          </a:p>
          <a:p>
            <a:pPr marL="12700" marR="5080">
              <a:lnSpc>
                <a:spcPct val="115399"/>
              </a:lnSpc>
            </a:pPr>
            <a:r>
              <a:rPr spc="440" dirty="0">
                <a:solidFill>
                  <a:srgbClr val="535353"/>
                </a:solidFill>
              </a:rPr>
              <a:t>Сумма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ежемесячного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20" dirty="0">
                <a:solidFill>
                  <a:srgbClr val="535353"/>
                </a:solidFill>
              </a:rPr>
              <a:t>пособия: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50" dirty="0">
                <a:solidFill>
                  <a:srgbClr val="535353"/>
                </a:solidFill>
              </a:rPr>
              <a:t>от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495" dirty="0">
                <a:solidFill>
                  <a:srgbClr val="535353"/>
                </a:solidFill>
              </a:rPr>
              <a:t>500-</a:t>
            </a:r>
            <a:r>
              <a:rPr spc="375" dirty="0">
                <a:solidFill>
                  <a:srgbClr val="535353"/>
                </a:solidFill>
              </a:rPr>
              <a:t>1000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00" dirty="0">
                <a:solidFill>
                  <a:srgbClr val="535353"/>
                </a:solidFill>
              </a:rPr>
              <a:t>для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54" dirty="0">
                <a:solidFill>
                  <a:srgbClr val="535353"/>
                </a:solidFill>
              </a:rPr>
              <a:t>бакалавра.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От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375" dirty="0">
                <a:solidFill>
                  <a:srgbClr val="535353"/>
                </a:solidFill>
              </a:rPr>
              <a:t>1000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75" dirty="0">
                <a:solidFill>
                  <a:srgbClr val="535353"/>
                </a:solidFill>
              </a:rPr>
              <a:t>для </a:t>
            </a:r>
            <a:r>
              <a:rPr spc="285" dirty="0">
                <a:solidFill>
                  <a:srgbClr val="535353"/>
                </a:solidFill>
              </a:rPr>
              <a:t>магистратуры.</a:t>
            </a:r>
            <a:r>
              <a:rPr spc="100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От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30" dirty="0">
                <a:solidFill>
                  <a:srgbClr val="535353"/>
                </a:solidFill>
              </a:rPr>
              <a:t>1500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00" dirty="0">
                <a:solidFill>
                  <a:srgbClr val="535353"/>
                </a:solidFill>
              </a:rPr>
              <a:t>для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54" dirty="0">
                <a:solidFill>
                  <a:srgbClr val="535353"/>
                </a:solidFill>
              </a:rPr>
              <a:t>докторантуры.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254" dirty="0">
              <a:solidFill>
                <a:srgbClr val="535353"/>
              </a:solidFill>
            </a:endParaRPr>
          </a:p>
          <a:p>
            <a:pPr marL="12700" marR="6772909">
              <a:lnSpc>
                <a:spcPct val="115399"/>
              </a:lnSpc>
            </a:pPr>
            <a:r>
              <a:rPr spc="340" dirty="0"/>
              <a:t>Результаты</a:t>
            </a:r>
            <a:r>
              <a:rPr spc="114" dirty="0"/>
              <a:t> </a:t>
            </a:r>
            <a:r>
              <a:rPr spc="285" dirty="0"/>
              <a:t>поступления</a:t>
            </a:r>
            <a:r>
              <a:rPr spc="120" dirty="0"/>
              <a:t> </a:t>
            </a:r>
            <a:r>
              <a:rPr spc="280" dirty="0"/>
              <a:t>приходят</a:t>
            </a:r>
            <a:r>
              <a:rPr spc="120" dirty="0"/>
              <a:t> </a:t>
            </a:r>
            <a:r>
              <a:rPr spc="295" dirty="0"/>
              <a:t>в</a:t>
            </a:r>
            <a:r>
              <a:rPr spc="120" dirty="0"/>
              <a:t> </a:t>
            </a:r>
            <a:r>
              <a:rPr spc="275" dirty="0"/>
              <a:t>начале</a:t>
            </a:r>
            <a:r>
              <a:rPr spc="120" dirty="0"/>
              <a:t> </a:t>
            </a:r>
            <a:r>
              <a:rPr spc="270" dirty="0"/>
              <a:t>июля </a:t>
            </a:r>
            <a:r>
              <a:rPr spc="335" dirty="0"/>
              <a:t>Срок</a:t>
            </a:r>
            <a:r>
              <a:rPr spc="120" dirty="0"/>
              <a:t> </a:t>
            </a:r>
            <a:r>
              <a:rPr spc="280" dirty="0"/>
              <a:t>подачи</a:t>
            </a:r>
            <a:r>
              <a:rPr spc="120" dirty="0"/>
              <a:t> </a:t>
            </a:r>
            <a:r>
              <a:rPr spc="305" dirty="0"/>
              <a:t>документов</a:t>
            </a:r>
            <a:r>
              <a:rPr spc="120" dirty="0"/>
              <a:t> </a:t>
            </a:r>
            <a:r>
              <a:rPr spc="290" dirty="0"/>
              <a:t>разнятся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0264" y="994950"/>
            <a:ext cx="109531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84" dirty="0"/>
              <a:t>Стипендии</a:t>
            </a:r>
            <a:r>
              <a:rPr sz="4000" spc="165" dirty="0"/>
              <a:t> </a:t>
            </a:r>
            <a:r>
              <a:rPr sz="4000" spc="420" dirty="0"/>
              <a:t>городов</a:t>
            </a:r>
            <a:r>
              <a:rPr sz="4000" spc="165" dirty="0"/>
              <a:t> </a:t>
            </a:r>
            <a:r>
              <a:rPr sz="4000" spc="420" dirty="0"/>
              <a:t>-</a:t>
            </a:r>
            <a:r>
              <a:rPr sz="4000" spc="170" dirty="0"/>
              <a:t> </a:t>
            </a:r>
            <a:r>
              <a:rPr sz="4000" spc="459" dirty="0"/>
              <a:t>локальный</a:t>
            </a:r>
            <a:r>
              <a:rPr sz="4000" spc="165" dirty="0"/>
              <a:t> </a:t>
            </a:r>
            <a:r>
              <a:rPr sz="4000" spc="390" dirty="0"/>
              <a:t>грант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0146" y="702498"/>
            <a:ext cx="1086296" cy="1086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80"/>
              </a:spcBef>
            </a:pPr>
            <a:r>
              <a:rPr spc="285" dirty="0"/>
              <a:t>Грант</a:t>
            </a:r>
            <a:r>
              <a:rPr spc="110" dirty="0"/>
              <a:t> </a:t>
            </a:r>
            <a:r>
              <a:rPr spc="295" dirty="0"/>
              <a:t>делится</a:t>
            </a:r>
            <a:r>
              <a:rPr spc="110" dirty="0"/>
              <a:t> </a:t>
            </a:r>
            <a:r>
              <a:rPr spc="295" dirty="0"/>
              <a:t>на</a:t>
            </a:r>
            <a:r>
              <a:rPr spc="110" dirty="0"/>
              <a:t> </a:t>
            </a:r>
            <a:r>
              <a:rPr spc="440" dirty="0"/>
              <a:t>3</a:t>
            </a:r>
            <a:r>
              <a:rPr spc="110" dirty="0"/>
              <a:t> </a:t>
            </a:r>
            <a:r>
              <a:rPr spc="165" dirty="0"/>
              <a:t>типа:</a:t>
            </a:r>
          </a:p>
          <a:p>
            <a:pPr marL="12700" marR="497205" algn="just">
              <a:lnSpc>
                <a:spcPct val="115399"/>
              </a:lnSpc>
            </a:pPr>
            <a:r>
              <a:rPr spc="310" dirty="0">
                <a:solidFill>
                  <a:srgbClr val="7DD957"/>
                </a:solidFill>
              </a:rPr>
              <a:t>Тип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590" dirty="0">
                <a:solidFill>
                  <a:srgbClr val="7DD957"/>
                </a:solidFill>
              </a:rPr>
              <a:t>А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65" dirty="0">
                <a:solidFill>
                  <a:srgbClr val="7DD957"/>
                </a:solidFill>
              </a:rPr>
              <a:t>-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300" dirty="0">
                <a:solidFill>
                  <a:srgbClr val="7DD957"/>
                </a:solidFill>
              </a:rPr>
              <a:t>полный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260" dirty="0">
                <a:solidFill>
                  <a:srgbClr val="7DD957"/>
                </a:solidFill>
              </a:rPr>
              <a:t>грант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185" dirty="0">
                <a:solidFill>
                  <a:srgbClr val="7DD957"/>
                </a:solidFill>
              </a:rPr>
              <a:t>(обучение,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50" dirty="0">
                <a:solidFill>
                  <a:srgbClr val="7DD957"/>
                </a:solidFill>
              </a:rPr>
              <a:t>проживание,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330" dirty="0">
                <a:solidFill>
                  <a:srgbClr val="7DD957"/>
                </a:solidFill>
              </a:rPr>
              <a:t>медицинскую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300" dirty="0">
                <a:solidFill>
                  <a:srgbClr val="7DD957"/>
                </a:solidFill>
              </a:rPr>
              <a:t>страховку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90" dirty="0">
                <a:solidFill>
                  <a:srgbClr val="7DD957"/>
                </a:solidFill>
              </a:rPr>
              <a:t>и</a:t>
            </a:r>
            <a:r>
              <a:rPr spc="105" dirty="0">
                <a:solidFill>
                  <a:srgbClr val="7DD957"/>
                </a:solidFill>
              </a:rPr>
              <a:t> </a:t>
            </a:r>
            <a:r>
              <a:rPr spc="285" dirty="0">
                <a:solidFill>
                  <a:srgbClr val="7DD957"/>
                </a:solidFill>
              </a:rPr>
              <a:t>пособие</a:t>
            </a:r>
            <a:r>
              <a:rPr spc="110" dirty="0">
                <a:solidFill>
                  <a:srgbClr val="7DD957"/>
                </a:solidFill>
              </a:rPr>
              <a:t> </a:t>
            </a:r>
            <a:r>
              <a:rPr spc="225" dirty="0">
                <a:solidFill>
                  <a:srgbClr val="7DD957"/>
                </a:solidFill>
              </a:rPr>
              <a:t>от </a:t>
            </a:r>
            <a:r>
              <a:rPr spc="575" dirty="0">
                <a:solidFill>
                  <a:srgbClr val="7DD957"/>
                </a:solidFill>
              </a:rPr>
              <a:t>500</a:t>
            </a:r>
            <a:r>
              <a:rPr spc="95" dirty="0">
                <a:solidFill>
                  <a:srgbClr val="7DD957"/>
                </a:solidFill>
              </a:rPr>
              <a:t> </a:t>
            </a:r>
            <a:r>
              <a:rPr spc="210" dirty="0">
                <a:solidFill>
                  <a:srgbClr val="7DD957"/>
                </a:solidFill>
              </a:rPr>
              <a:t>юаней)</a:t>
            </a:r>
          </a:p>
          <a:p>
            <a:pPr marL="12700" marR="1546225" algn="just">
              <a:lnSpc>
                <a:spcPct val="115399"/>
              </a:lnSpc>
            </a:pPr>
            <a:r>
              <a:rPr spc="310" dirty="0">
                <a:solidFill>
                  <a:srgbClr val="EC5B4E"/>
                </a:solidFill>
              </a:rPr>
              <a:t>Тип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595" dirty="0">
                <a:solidFill>
                  <a:srgbClr val="EC5B4E"/>
                </a:solidFill>
              </a:rPr>
              <a:t>B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-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частичный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00" dirty="0">
                <a:solidFill>
                  <a:srgbClr val="EC5B4E"/>
                </a:solidFill>
              </a:rPr>
              <a:t>грант,</a:t>
            </a:r>
            <a:r>
              <a:rPr spc="114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покрывает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70" dirty="0">
                <a:solidFill>
                  <a:srgbClr val="EC5B4E"/>
                </a:solidFill>
              </a:rPr>
              <a:t>только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85" dirty="0">
                <a:solidFill>
                  <a:srgbClr val="EC5B4E"/>
                </a:solidFill>
              </a:rPr>
              <a:t>проживание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85" dirty="0">
                <a:solidFill>
                  <a:srgbClr val="EC5B4E"/>
                </a:solidFill>
              </a:rPr>
              <a:t>или</a:t>
            </a:r>
            <a:r>
              <a:rPr spc="110" dirty="0">
                <a:solidFill>
                  <a:srgbClr val="EC5B4E"/>
                </a:solidFill>
              </a:rPr>
              <a:t> </a:t>
            </a:r>
            <a:r>
              <a:rPr spc="270" dirty="0">
                <a:solidFill>
                  <a:srgbClr val="EC5B4E"/>
                </a:solidFill>
              </a:rPr>
              <a:t>только</a:t>
            </a:r>
            <a:r>
              <a:rPr spc="114" dirty="0">
                <a:solidFill>
                  <a:srgbClr val="EC5B4E"/>
                </a:solidFill>
              </a:rPr>
              <a:t> </a:t>
            </a:r>
            <a:r>
              <a:rPr spc="215" dirty="0">
                <a:solidFill>
                  <a:srgbClr val="EC5B4E"/>
                </a:solidFill>
              </a:rPr>
              <a:t>обучение. </a:t>
            </a:r>
            <a:r>
              <a:rPr spc="310" dirty="0">
                <a:solidFill>
                  <a:srgbClr val="EC5B4E"/>
                </a:solidFill>
              </a:rPr>
              <a:t>Тип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545" dirty="0">
                <a:solidFill>
                  <a:srgbClr val="EC5B4E"/>
                </a:solidFill>
              </a:rPr>
              <a:t>С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-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35" dirty="0">
                <a:solidFill>
                  <a:srgbClr val="EC5B4E"/>
                </a:solidFill>
              </a:rPr>
              <a:t>Выделяется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80" dirty="0">
                <a:solidFill>
                  <a:srgbClr val="EC5B4E"/>
                </a:solidFill>
              </a:rPr>
              <a:t>определенная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415" dirty="0">
                <a:solidFill>
                  <a:srgbClr val="EC5B4E"/>
                </a:solidFill>
              </a:rPr>
              <a:t>сумма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в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75" dirty="0">
                <a:solidFill>
                  <a:srgbClr val="EC5B4E"/>
                </a:solidFill>
              </a:rPr>
              <a:t>год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на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95" dirty="0">
                <a:solidFill>
                  <a:srgbClr val="EC5B4E"/>
                </a:solidFill>
              </a:rPr>
              <a:t>на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руки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90" dirty="0">
                <a:solidFill>
                  <a:srgbClr val="EC5B4E"/>
                </a:solidFill>
              </a:rPr>
              <a:t>и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60" dirty="0">
                <a:solidFill>
                  <a:srgbClr val="EC5B4E"/>
                </a:solidFill>
              </a:rPr>
              <a:t>вы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80" dirty="0">
                <a:solidFill>
                  <a:srgbClr val="EC5B4E"/>
                </a:solidFill>
              </a:rPr>
              <a:t>сами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15" dirty="0">
                <a:solidFill>
                  <a:srgbClr val="EC5B4E"/>
                </a:solidFill>
              </a:rPr>
              <a:t>должны </a:t>
            </a:r>
            <a:r>
              <a:rPr spc="310" dirty="0">
                <a:solidFill>
                  <a:srgbClr val="EC5B4E"/>
                </a:solidFill>
              </a:rPr>
              <a:t>используя</a:t>
            </a:r>
            <a:r>
              <a:rPr spc="100" dirty="0">
                <a:solidFill>
                  <a:srgbClr val="EC5B4E"/>
                </a:solidFill>
              </a:rPr>
              <a:t> </a:t>
            </a:r>
            <a:r>
              <a:rPr spc="300" dirty="0">
                <a:solidFill>
                  <a:srgbClr val="EC5B4E"/>
                </a:solidFill>
              </a:rPr>
              <a:t>эти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80" dirty="0">
                <a:solidFill>
                  <a:srgbClr val="EC5B4E"/>
                </a:solidFill>
              </a:rPr>
              <a:t>деньги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320" dirty="0">
                <a:solidFill>
                  <a:srgbClr val="EC5B4E"/>
                </a:solidFill>
              </a:rPr>
              <a:t>всё</a:t>
            </a:r>
            <a:r>
              <a:rPr spc="105" dirty="0">
                <a:solidFill>
                  <a:srgbClr val="EC5B4E"/>
                </a:solidFill>
              </a:rPr>
              <a:t> </a:t>
            </a:r>
            <a:r>
              <a:rPr spc="265" dirty="0">
                <a:solidFill>
                  <a:srgbClr val="EC5B4E"/>
                </a:solidFill>
              </a:rPr>
              <a:t>оплатить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265" dirty="0">
              <a:solidFill>
                <a:srgbClr val="EC5B4E"/>
              </a:solidFill>
            </a:endParaRPr>
          </a:p>
          <a:p>
            <a:pPr marL="12700" marR="3256279">
              <a:lnSpc>
                <a:spcPct val="115399"/>
              </a:lnSpc>
            </a:pPr>
            <a:r>
              <a:rPr spc="345" dirty="0"/>
              <a:t>Покрываемые</a:t>
            </a:r>
            <a:r>
              <a:rPr spc="114" dirty="0"/>
              <a:t> </a:t>
            </a:r>
            <a:r>
              <a:rPr spc="335" dirty="0"/>
              <a:t>расходы</a:t>
            </a:r>
            <a:r>
              <a:rPr spc="114" dirty="0"/>
              <a:t> </a:t>
            </a:r>
            <a:r>
              <a:rPr spc="270" dirty="0"/>
              <a:t>по</a:t>
            </a:r>
            <a:r>
              <a:rPr spc="114" dirty="0"/>
              <a:t> </a:t>
            </a:r>
            <a:r>
              <a:rPr spc="270" dirty="0"/>
              <a:t>гранту</a:t>
            </a:r>
            <a:r>
              <a:rPr spc="114" dirty="0"/>
              <a:t> </a:t>
            </a:r>
            <a:r>
              <a:rPr spc="305" dirty="0"/>
              <a:t>могут</a:t>
            </a:r>
            <a:r>
              <a:rPr spc="120" dirty="0"/>
              <a:t> </a:t>
            </a:r>
            <a:r>
              <a:rPr spc="275" dirty="0"/>
              <a:t>отличаться</a:t>
            </a:r>
            <a:r>
              <a:rPr spc="114" dirty="0"/>
              <a:t> </a:t>
            </a:r>
            <a:r>
              <a:rPr spc="250" dirty="0"/>
              <a:t>от</a:t>
            </a:r>
            <a:r>
              <a:rPr spc="114" dirty="0"/>
              <a:t> </a:t>
            </a:r>
            <a:r>
              <a:rPr spc="250" dirty="0"/>
              <a:t>университета. </a:t>
            </a:r>
            <a:r>
              <a:rPr spc="325" dirty="0"/>
              <a:t>Ежемесячно</a:t>
            </a:r>
            <a:r>
              <a:rPr spc="110" dirty="0"/>
              <a:t> </a:t>
            </a:r>
            <a:r>
              <a:rPr spc="325" dirty="0"/>
              <a:t>студентам</a:t>
            </a:r>
            <a:r>
              <a:rPr spc="114" dirty="0"/>
              <a:t> </a:t>
            </a:r>
            <a:r>
              <a:rPr spc="295" dirty="0"/>
              <a:t>выплачивается</a:t>
            </a:r>
            <a:r>
              <a:rPr spc="114" dirty="0"/>
              <a:t> </a:t>
            </a:r>
            <a:r>
              <a:rPr spc="225" dirty="0"/>
              <a:t>пособие.</a:t>
            </a:r>
          </a:p>
          <a:p>
            <a:pPr marL="12700" marR="5080">
              <a:lnSpc>
                <a:spcPct val="115399"/>
              </a:lnSpc>
            </a:pPr>
            <a:r>
              <a:rPr spc="440" dirty="0">
                <a:solidFill>
                  <a:srgbClr val="535353"/>
                </a:solidFill>
              </a:rPr>
              <a:t>Сумма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ежемесячного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20" dirty="0">
                <a:solidFill>
                  <a:srgbClr val="535353"/>
                </a:solidFill>
              </a:rPr>
              <a:t>пособия: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50" dirty="0">
                <a:solidFill>
                  <a:srgbClr val="535353"/>
                </a:solidFill>
              </a:rPr>
              <a:t>от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495" dirty="0">
                <a:solidFill>
                  <a:srgbClr val="535353"/>
                </a:solidFill>
              </a:rPr>
              <a:t>500-</a:t>
            </a:r>
            <a:r>
              <a:rPr spc="375" dirty="0">
                <a:solidFill>
                  <a:srgbClr val="535353"/>
                </a:solidFill>
              </a:rPr>
              <a:t>1000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00" dirty="0">
                <a:solidFill>
                  <a:srgbClr val="535353"/>
                </a:solidFill>
              </a:rPr>
              <a:t>для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54" dirty="0">
                <a:solidFill>
                  <a:srgbClr val="535353"/>
                </a:solidFill>
              </a:rPr>
              <a:t>бакалавра.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От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375" dirty="0">
                <a:solidFill>
                  <a:srgbClr val="535353"/>
                </a:solidFill>
              </a:rPr>
              <a:t>1000</a:t>
            </a:r>
            <a:r>
              <a:rPr spc="110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75" dirty="0">
                <a:solidFill>
                  <a:srgbClr val="535353"/>
                </a:solidFill>
              </a:rPr>
              <a:t>для </a:t>
            </a:r>
            <a:r>
              <a:rPr spc="285" dirty="0">
                <a:solidFill>
                  <a:srgbClr val="535353"/>
                </a:solidFill>
              </a:rPr>
              <a:t>магистратуры.</a:t>
            </a:r>
            <a:r>
              <a:rPr spc="100" dirty="0">
                <a:solidFill>
                  <a:srgbClr val="535353"/>
                </a:solidFill>
              </a:rPr>
              <a:t> </a:t>
            </a:r>
            <a:r>
              <a:rPr spc="290" dirty="0">
                <a:solidFill>
                  <a:srgbClr val="535353"/>
                </a:solidFill>
              </a:rPr>
              <a:t>От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30" dirty="0">
                <a:solidFill>
                  <a:srgbClr val="535353"/>
                </a:solidFill>
              </a:rPr>
              <a:t>1500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95" dirty="0">
                <a:solidFill>
                  <a:srgbClr val="535353"/>
                </a:solidFill>
              </a:rPr>
              <a:t>юаней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300" dirty="0">
                <a:solidFill>
                  <a:srgbClr val="535353"/>
                </a:solidFill>
              </a:rPr>
              <a:t>для</a:t>
            </a:r>
            <a:r>
              <a:rPr spc="105" dirty="0">
                <a:solidFill>
                  <a:srgbClr val="535353"/>
                </a:solidFill>
              </a:rPr>
              <a:t> </a:t>
            </a:r>
            <a:r>
              <a:rPr spc="254" dirty="0">
                <a:solidFill>
                  <a:srgbClr val="535353"/>
                </a:solidFill>
              </a:rPr>
              <a:t>докторантуры.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pc="254" dirty="0">
              <a:solidFill>
                <a:srgbClr val="535353"/>
              </a:solidFill>
            </a:endParaRPr>
          </a:p>
          <a:p>
            <a:pPr marL="12700" marR="6772909">
              <a:lnSpc>
                <a:spcPct val="115399"/>
              </a:lnSpc>
            </a:pPr>
            <a:r>
              <a:rPr spc="340" dirty="0"/>
              <a:t>Результаты</a:t>
            </a:r>
            <a:r>
              <a:rPr spc="114" dirty="0"/>
              <a:t> </a:t>
            </a:r>
            <a:r>
              <a:rPr spc="285" dirty="0"/>
              <a:t>поступления</a:t>
            </a:r>
            <a:r>
              <a:rPr spc="120" dirty="0"/>
              <a:t> </a:t>
            </a:r>
            <a:r>
              <a:rPr spc="280" dirty="0"/>
              <a:t>приходят</a:t>
            </a:r>
            <a:r>
              <a:rPr spc="120" dirty="0"/>
              <a:t> </a:t>
            </a:r>
            <a:r>
              <a:rPr spc="295" dirty="0"/>
              <a:t>в</a:t>
            </a:r>
            <a:r>
              <a:rPr spc="120" dirty="0"/>
              <a:t> </a:t>
            </a:r>
            <a:r>
              <a:rPr spc="275" dirty="0"/>
              <a:t>начале</a:t>
            </a:r>
            <a:r>
              <a:rPr spc="120" dirty="0"/>
              <a:t> </a:t>
            </a:r>
            <a:r>
              <a:rPr spc="270" dirty="0"/>
              <a:t>июля </a:t>
            </a:r>
            <a:r>
              <a:rPr spc="335" dirty="0"/>
              <a:t>Срок</a:t>
            </a:r>
            <a:r>
              <a:rPr spc="120" dirty="0"/>
              <a:t> </a:t>
            </a:r>
            <a:r>
              <a:rPr spc="280" dirty="0"/>
              <a:t>подачи</a:t>
            </a:r>
            <a:r>
              <a:rPr spc="120" dirty="0"/>
              <a:t> </a:t>
            </a:r>
            <a:r>
              <a:rPr spc="305" dirty="0"/>
              <a:t>документов</a:t>
            </a:r>
            <a:r>
              <a:rPr spc="120" dirty="0"/>
              <a:t> </a:t>
            </a:r>
            <a:r>
              <a:rPr spc="290" dirty="0"/>
              <a:t>разнятся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70264" y="994950"/>
            <a:ext cx="66719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75" dirty="0"/>
              <a:t>Университетский</a:t>
            </a:r>
            <a:r>
              <a:rPr sz="4000" spc="145" dirty="0"/>
              <a:t> </a:t>
            </a:r>
            <a:r>
              <a:rPr sz="4000" spc="390" dirty="0"/>
              <a:t>грант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553318"/>
            <a:ext cx="1077742" cy="1077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93661" y="6581503"/>
            <a:ext cx="6994338" cy="37054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6000" y="2137381"/>
            <a:ext cx="15147925" cy="64262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4076700" algn="l"/>
              </a:tabLst>
            </a:pPr>
            <a:r>
              <a:rPr sz="2600" spc="260" dirty="0">
                <a:latin typeface="Tahoma"/>
                <a:cs typeface="Tahoma"/>
              </a:rPr>
              <a:t>Продолжительность:</a:t>
            </a:r>
            <a:r>
              <a:rPr sz="2600" dirty="0">
                <a:latin typeface="Tahoma"/>
                <a:cs typeface="Tahoma"/>
              </a:rPr>
              <a:t>	</a:t>
            </a:r>
            <a:r>
              <a:rPr sz="2600" spc="-80" dirty="0">
                <a:latin typeface="Tahoma"/>
                <a:cs typeface="Tahoma"/>
              </a:rPr>
              <a:t>1-</a:t>
            </a:r>
            <a:r>
              <a:rPr sz="2600" spc="395" dirty="0">
                <a:latin typeface="Tahoma"/>
                <a:cs typeface="Tahoma"/>
              </a:rPr>
              <a:t>2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65" dirty="0">
                <a:latin typeface="Tahoma"/>
                <a:cs typeface="Tahoma"/>
              </a:rPr>
              <a:t>года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5399"/>
              </a:lnSpc>
            </a:pPr>
            <a:r>
              <a:rPr sz="2600" spc="350" dirty="0">
                <a:solidFill>
                  <a:srgbClr val="535353"/>
                </a:solidFill>
                <a:latin typeface="Tahoma"/>
                <a:cs typeface="Tahoma"/>
              </a:rPr>
              <a:t>Программа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для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85" dirty="0">
                <a:solidFill>
                  <a:srgbClr val="535353"/>
                </a:solidFill>
                <a:latin typeface="Tahoma"/>
                <a:cs typeface="Tahoma"/>
              </a:rPr>
              <a:t>тех,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35" dirty="0">
                <a:solidFill>
                  <a:srgbClr val="535353"/>
                </a:solidFill>
                <a:latin typeface="Tahoma"/>
                <a:cs typeface="Tahoma"/>
              </a:rPr>
              <a:t>у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кого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60" dirty="0">
                <a:solidFill>
                  <a:srgbClr val="535353"/>
                </a:solidFill>
                <a:latin typeface="Tahoma"/>
                <a:cs typeface="Tahoma"/>
              </a:rPr>
              <a:t>нет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языкового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сертификата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или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85" dirty="0">
                <a:solidFill>
                  <a:srgbClr val="535353"/>
                </a:solidFill>
                <a:latin typeface="Tahoma"/>
                <a:cs typeface="Tahoma"/>
              </a:rPr>
              <a:t>тех,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60" dirty="0">
                <a:solidFill>
                  <a:srgbClr val="535353"/>
                </a:solidFill>
                <a:latin typeface="Tahoma"/>
                <a:cs typeface="Tahoma"/>
              </a:rPr>
              <a:t>кто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4" dirty="0">
                <a:solidFill>
                  <a:srgbClr val="535353"/>
                </a:solidFill>
                <a:latin typeface="Tahoma"/>
                <a:cs typeface="Tahoma"/>
              </a:rPr>
              <a:t>хочет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изучить </a:t>
            </a:r>
            <a:r>
              <a:rPr sz="2600" spc="335" dirty="0">
                <a:solidFill>
                  <a:srgbClr val="535353"/>
                </a:solidFill>
                <a:latin typeface="Tahoma"/>
                <a:cs typeface="Tahoma"/>
              </a:rPr>
              <a:t>язык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15" dirty="0">
                <a:solidFill>
                  <a:srgbClr val="535353"/>
                </a:solidFill>
                <a:latin typeface="Tahoma"/>
                <a:cs typeface="Tahoma"/>
              </a:rPr>
              <a:t>лучше.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586740">
              <a:lnSpc>
                <a:spcPct val="115399"/>
              </a:lnSpc>
            </a:pPr>
            <a:r>
              <a:rPr sz="2600" spc="375" dirty="0">
                <a:latin typeface="Tahoma"/>
                <a:cs typeface="Tahoma"/>
              </a:rPr>
              <a:t>Курс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включают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в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185" dirty="0">
                <a:latin typeface="Tahoma"/>
                <a:cs typeface="Tahoma"/>
              </a:rPr>
              <a:t>себя: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00" dirty="0">
                <a:solidFill>
                  <a:srgbClr val="535353"/>
                </a:solidFill>
                <a:latin typeface="Tahoma"/>
                <a:cs typeface="Tahoma"/>
              </a:rPr>
              <a:t>чтение,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535353"/>
                </a:solidFill>
                <a:latin typeface="Tahoma"/>
                <a:cs typeface="Tahoma"/>
              </a:rPr>
              <a:t>аудирование,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40" dirty="0">
                <a:solidFill>
                  <a:srgbClr val="535353"/>
                </a:solidFill>
                <a:latin typeface="Tahoma"/>
                <a:cs typeface="Tahoma"/>
              </a:rPr>
              <a:t>письмо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и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изучение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культуры. </a:t>
            </a:r>
            <a:r>
              <a:rPr sz="2600" spc="345" dirty="0">
                <a:solidFill>
                  <a:srgbClr val="535353"/>
                </a:solidFill>
                <a:latin typeface="Tahoma"/>
                <a:cs typeface="Tahoma"/>
              </a:rPr>
              <a:t>Чаще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всего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учеба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40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40" dirty="0">
                <a:solidFill>
                  <a:srgbClr val="535353"/>
                </a:solidFill>
                <a:latin typeface="Tahoma"/>
                <a:cs typeface="Tahoma"/>
              </a:rPr>
              <a:t>8:30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утра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и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0" dirty="0">
                <a:solidFill>
                  <a:srgbClr val="535353"/>
                </a:solidFill>
                <a:latin typeface="Tahoma"/>
                <a:cs typeface="Tahoma"/>
              </a:rPr>
              <a:t>до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535353"/>
                </a:solidFill>
                <a:latin typeface="Tahoma"/>
                <a:cs typeface="Tahoma"/>
              </a:rPr>
              <a:t>12:10,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после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перерыв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40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535353"/>
                </a:solidFill>
                <a:latin typeface="Tahoma"/>
                <a:cs typeface="Tahoma"/>
              </a:rPr>
              <a:t>12:10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0" dirty="0">
                <a:solidFill>
                  <a:srgbClr val="535353"/>
                </a:solidFill>
                <a:latin typeface="Tahoma"/>
                <a:cs typeface="Tahoma"/>
              </a:rPr>
              <a:t>до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40" dirty="0">
                <a:solidFill>
                  <a:srgbClr val="535353"/>
                </a:solidFill>
                <a:latin typeface="Tahoma"/>
                <a:cs typeface="Tahoma"/>
              </a:rPr>
              <a:t>14:30,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далее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учеба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25" dirty="0">
                <a:solidFill>
                  <a:srgbClr val="535353"/>
                </a:solidFill>
                <a:latin typeface="Tahoma"/>
                <a:cs typeface="Tahoma"/>
              </a:rPr>
              <a:t>может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продолжаться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0" dirty="0">
                <a:solidFill>
                  <a:srgbClr val="535353"/>
                </a:solidFill>
                <a:latin typeface="Tahoma"/>
                <a:cs typeface="Tahoma"/>
              </a:rPr>
              <a:t>до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40" dirty="0">
                <a:solidFill>
                  <a:srgbClr val="535353"/>
                </a:solidFill>
                <a:latin typeface="Tahoma"/>
                <a:cs typeface="Tahoma"/>
              </a:rPr>
              <a:t>16:30.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54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понедельника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по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9" dirty="0">
                <a:solidFill>
                  <a:srgbClr val="535353"/>
                </a:solidFill>
                <a:latin typeface="Tahoma"/>
                <a:cs typeface="Tahoma"/>
              </a:rPr>
              <a:t>субботу.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3679190">
              <a:lnSpc>
                <a:spcPct val="115399"/>
              </a:lnSpc>
            </a:pPr>
            <a:r>
              <a:rPr sz="2600" spc="275" dirty="0">
                <a:latin typeface="Tahoma"/>
                <a:cs typeface="Tahoma"/>
              </a:rPr>
              <a:t>Каникулы:</a:t>
            </a:r>
            <a:r>
              <a:rPr sz="2600" spc="100" dirty="0">
                <a:latin typeface="Tahoma"/>
                <a:cs typeface="Tahoma"/>
              </a:rPr>
              <a:t> </a:t>
            </a:r>
            <a:r>
              <a:rPr sz="2600" spc="40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-400" dirty="0">
                <a:solidFill>
                  <a:srgbClr val="535353"/>
                </a:solidFill>
                <a:latin typeface="Tahoma"/>
                <a:cs typeface="Tahoma"/>
              </a:rPr>
              <a:t>1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535353"/>
                </a:solidFill>
                <a:latin typeface="Tahoma"/>
                <a:cs typeface="Tahoma"/>
              </a:rPr>
              <a:t>января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0" dirty="0">
                <a:solidFill>
                  <a:srgbClr val="535353"/>
                </a:solidFill>
                <a:latin typeface="Tahoma"/>
                <a:cs typeface="Tahoma"/>
              </a:rPr>
              <a:t>до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445" dirty="0">
                <a:solidFill>
                  <a:srgbClr val="535353"/>
                </a:solidFill>
                <a:latin typeface="Tahoma"/>
                <a:cs typeface="Tahoma"/>
              </a:rPr>
              <a:t>26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4" dirty="0">
                <a:solidFill>
                  <a:srgbClr val="535353"/>
                </a:solidFill>
                <a:latin typeface="Tahoma"/>
                <a:cs typeface="Tahoma"/>
              </a:rPr>
              <a:t>февраля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и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40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5" dirty="0">
                <a:solidFill>
                  <a:srgbClr val="535353"/>
                </a:solidFill>
                <a:latin typeface="Tahoma"/>
                <a:cs typeface="Tahoma"/>
              </a:rPr>
              <a:t>середины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июня-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июля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и</a:t>
            </a:r>
            <a:r>
              <a:rPr sz="260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0" dirty="0">
                <a:solidFill>
                  <a:srgbClr val="535353"/>
                </a:solidFill>
                <a:latin typeface="Tahoma"/>
                <a:cs typeface="Tahoma"/>
              </a:rPr>
              <a:t>до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конца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40" dirty="0">
                <a:solidFill>
                  <a:srgbClr val="535353"/>
                </a:solidFill>
                <a:latin typeface="Tahoma"/>
                <a:cs typeface="Tahoma"/>
              </a:rPr>
              <a:t>августа.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600" spc="390" dirty="0">
                <a:latin typeface="Tahoma"/>
                <a:cs typeface="Tahoma"/>
              </a:rPr>
              <a:t>Язык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04" dirty="0">
                <a:latin typeface="Tahoma"/>
                <a:cs typeface="Tahoma"/>
              </a:rPr>
              <a:t>обучения: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54" dirty="0">
                <a:solidFill>
                  <a:srgbClr val="535353"/>
                </a:solidFill>
                <a:latin typeface="Tahoma"/>
                <a:cs typeface="Tahoma"/>
              </a:rPr>
              <a:t>английский,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но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чаще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535353"/>
                </a:solidFill>
                <a:latin typeface="Tahoma"/>
                <a:cs typeface="Tahoma"/>
              </a:rPr>
              <a:t>всего</a:t>
            </a:r>
            <a:endParaRPr sz="2600">
              <a:latin typeface="Tahoma"/>
              <a:cs typeface="Tahoma"/>
            </a:endParaRPr>
          </a:p>
          <a:p>
            <a:pPr marL="12700" marR="5654675">
              <a:lnSpc>
                <a:spcPct val="115399"/>
              </a:lnSpc>
            </a:pP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на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15" dirty="0">
                <a:solidFill>
                  <a:srgbClr val="535353"/>
                </a:solidFill>
                <a:latin typeface="Tahoma"/>
                <a:cs typeface="Tahoma"/>
              </a:rPr>
              <a:t>китайском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40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10" dirty="0">
                <a:solidFill>
                  <a:srgbClr val="535353"/>
                </a:solidFill>
                <a:latin typeface="Tahoma"/>
                <a:cs typeface="Tahoma"/>
              </a:rPr>
              <a:t>нуля,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5" dirty="0">
                <a:solidFill>
                  <a:srgbClr val="535353"/>
                </a:solidFill>
                <a:latin typeface="Tahoma"/>
                <a:cs typeface="Tahoma"/>
              </a:rPr>
              <a:t>есть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535353"/>
                </a:solidFill>
                <a:latin typeface="Tahoma"/>
                <a:cs typeface="Tahoma"/>
              </a:rPr>
              <a:t>университеты,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535353"/>
                </a:solidFill>
                <a:latin typeface="Tahoma"/>
                <a:cs typeface="Tahoma"/>
              </a:rPr>
              <a:t>где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могут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обучать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на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русском.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994950"/>
            <a:ext cx="393255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09" dirty="0"/>
              <a:t>Языковой</a:t>
            </a:r>
            <a:r>
              <a:rPr sz="4000" spc="180" dirty="0"/>
              <a:t> </a:t>
            </a:r>
            <a:r>
              <a:rPr sz="4000" spc="400" dirty="0"/>
              <a:t>год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0"/>
            <a:ext cx="2419349" cy="5429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7826" y="894305"/>
            <a:ext cx="10080625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5000" spc="695" dirty="0">
                <a:solidFill>
                  <a:srgbClr val="070707"/>
                </a:solidFill>
              </a:rPr>
              <a:t>Наши</a:t>
            </a:r>
            <a:r>
              <a:rPr sz="5000" spc="195" dirty="0">
                <a:solidFill>
                  <a:srgbClr val="070707"/>
                </a:solidFill>
              </a:rPr>
              <a:t> </a:t>
            </a:r>
            <a:r>
              <a:rPr sz="5000" spc="580" dirty="0">
                <a:solidFill>
                  <a:srgbClr val="070707"/>
                </a:solidFill>
              </a:rPr>
              <a:t>принципы</a:t>
            </a:r>
            <a:r>
              <a:rPr sz="5000" spc="195" dirty="0">
                <a:solidFill>
                  <a:srgbClr val="070707"/>
                </a:solidFill>
              </a:rPr>
              <a:t> </a:t>
            </a:r>
            <a:r>
              <a:rPr sz="5000" spc="535" dirty="0">
                <a:solidFill>
                  <a:srgbClr val="070707"/>
                </a:solidFill>
              </a:rPr>
              <a:t>при</a:t>
            </a:r>
            <a:r>
              <a:rPr sz="5000" spc="200" dirty="0">
                <a:solidFill>
                  <a:srgbClr val="070707"/>
                </a:solidFill>
              </a:rPr>
              <a:t> </a:t>
            </a:r>
            <a:r>
              <a:rPr sz="5000" spc="550" dirty="0">
                <a:solidFill>
                  <a:srgbClr val="070707"/>
                </a:solidFill>
              </a:rPr>
              <a:t>выборе университета</a:t>
            </a:r>
            <a:endParaRPr sz="5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07785" y="4341342"/>
            <a:ext cx="5734049" cy="5943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4449" y="3640418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4449" y="5012018"/>
            <a:ext cx="104775" cy="1047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1458320" y="5183467"/>
            <a:ext cx="29209" cy="28575"/>
          </a:xfrm>
          <a:custGeom>
            <a:avLst/>
            <a:gdLst/>
            <a:ahLst/>
            <a:cxnLst/>
            <a:rect l="l" t="t" r="r" b="b"/>
            <a:pathLst>
              <a:path w="29209" h="28575">
                <a:moveTo>
                  <a:pt x="28828" y="28574"/>
                </a:moveTo>
                <a:lnTo>
                  <a:pt x="0" y="28574"/>
                </a:lnTo>
                <a:lnTo>
                  <a:pt x="0" y="0"/>
                </a:lnTo>
                <a:lnTo>
                  <a:pt x="28828" y="0"/>
                </a:lnTo>
                <a:lnTo>
                  <a:pt x="28828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4449" y="6383618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082043" y="7012267"/>
            <a:ext cx="22860" cy="28575"/>
          </a:xfrm>
          <a:custGeom>
            <a:avLst/>
            <a:gdLst/>
            <a:ahLst/>
            <a:cxnLst/>
            <a:rect l="l" t="t" r="r" b="b"/>
            <a:pathLst>
              <a:path w="22859" h="28575">
                <a:moveTo>
                  <a:pt x="22838" y="28574"/>
                </a:moveTo>
                <a:lnTo>
                  <a:pt x="0" y="28574"/>
                </a:lnTo>
                <a:lnTo>
                  <a:pt x="0" y="0"/>
                </a:lnTo>
                <a:lnTo>
                  <a:pt x="22838" y="0"/>
                </a:lnTo>
                <a:lnTo>
                  <a:pt x="22838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77230" y="3388945"/>
            <a:ext cx="9923145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7359">
              <a:lnSpc>
                <a:spcPct val="115399"/>
              </a:lnSpc>
              <a:spcBef>
                <a:spcPts val="100"/>
              </a:spcBef>
            </a:pPr>
            <a:r>
              <a:rPr sz="2600" spc="550" dirty="0">
                <a:latin typeface="Tahoma"/>
                <a:cs typeface="Tahoma"/>
              </a:rPr>
              <a:t>Мы</a:t>
            </a:r>
            <a:r>
              <a:rPr sz="2600" spc="100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подбираем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университеты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u="heavy" spc="2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только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4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с</a:t>
            </a:r>
            <a:r>
              <a:rPr sz="2600" u="heavy" spc="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2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одобренной</a:t>
            </a:r>
            <a:r>
              <a:rPr sz="2600" spc="265" dirty="0">
                <a:latin typeface="Tahoma"/>
                <a:cs typeface="Tahoma"/>
              </a:rPr>
              <a:t> </a:t>
            </a:r>
            <a:r>
              <a:rPr sz="2600" u="heavy" spc="2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государственной</a:t>
            </a:r>
            <a:r>
              <a:rPr sz="2600" u="heavy" spc="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2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программой</a:t>
            </a:r>
            <a:r>
              <a:rPr sz="2600" spc="270" dirty="0">
                <a:latin typeface="Tahoma"/>
                <a:cs typeface="Tahoma"/>
              </a:rPr>
              <a:t>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15399"/>
              </a:lnSpc>
            </a:pPr>
            <a:r>
              <a:rPr sz="2600" u="heavy" spc="36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Дипломы</a:t>
            </a:r>
            <a:r>
              <a:rPr sz="2600" spc="100" dirty="0">
                <a:latin typeface="Tahoma"/>
                <a:cs typeface="Tahoma"/>
              </a:rPr>
              <a:t> </a:t>
            </a:r>
            <a:r>
              <a:rPr sz="2600" spc="315" dirty="0">
                <a:latin typeface="Tahoma"/>
                <a:cs typeface="Tahoma"/>
              </a:rPr>
              <a:t>наших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университетов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u="heavy" spc="2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котируются</a:t>
            </a:r>
            <a:r>
              <a:rPr sz="2600" u="heavy" spc="1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27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по</a:t>
            </a:r>
            <a:r>
              <a:rPr sz="2600" u="heavy" spc="10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всем</a:t>
            </a:r>
            <a:r>
              <a:rPr sz="2600" spc="350" dirty="0">
                <a:latin typeface="Tahoma"/>
                <a:cs typeface="Tahoma"/>
              </a:rPr>
              <a:t>у </a:t>
            </a:r>
            <a:r>
              <a:rPr sz="2600" u="heavy" spc="2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миру.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392430" indent="115570">
              <a:lnSpc>
                <a:spcPct val="115399"/>
              </a:lnSpc>
            </a:pPr>
            <a:r>
              <a:rPr sz="2600" spc="550" dirty="0">
                <a:latin typeface="Tahoma"/>
                <a:cs typeface="Tahoma"/>
              </a:rPr>
              <a:t>Мы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всегда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25" dirty="0">
                <a:latin typeface="Tahoma"/>
                <a:cs typeface="Tahoma"/>
              </a:rPr>
              <a:t>выбираем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360" dirty="0">
                <a:latin typeface="Tahoma"/>
                <a:cs typeface="Tahoma"/>
              </a:rPr>
              <a:t>вузы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u="heavy" spc="40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с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хорошими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условиями</a:t>
            </a:r>
            <a:r>
              <a:rPr sz="2600" spc="310" dirty="0">
                <a:latin typeface="Tahoma"/>
                <a:cs typeface="Tahoma"/>
              </a:rPr>
              <a:t> </a:t>
            </a:r>
            <a:r>
              <a:rPr sz="2600" u="heavy" spc="28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проживания</a:t>
            </a:r>
            <a:r>
              <a:rPr sz="2600" u="heavy" spc="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(</a:t>
            </a:r>
            <a:r>
              <a:rPr sz="2600" u="heavy" spc="-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1-</a:t>
            </a:r>
            <a:r>
              <a:rPr sz="2600" u="heavy" spc="3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</a:t>
            </a:r>
            <a:r>
              <a:rPr sz="2600" u="heavy" spc="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местные</a:t>
            </a:r>
            <a:r>
              <a:rPr sz="2600" u="heavy" spc="1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25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комнаты</a:t>
            </a:r>
            <a:r>
              <a:rPr sz="2600" spc="254" dirty="0"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12700" marR="888365">
              <a:lnSpc>
                <a:spcPct val="115399"/>
              </a:lnSpc>
            </a:pPr>
            <a:r>
              <a:rPr sz="2600" spc="355" dirty="0">
                <a:latin typeface="Tahoma"/>
                <a:cs typeface="Tahoma"/>
              </a:rPr>
              <a:t>Всегда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40" dirty="0">
                <a:latin typeface="Tahoma"/>
                <a:cs typeface="Tahoma"/>
              </a:rPr>
              <a:t>рассматриваем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u="heavy" spc="29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лучшие</a:t>
            </a:r>
            <a:r>
              <a:rPr sz="2600" u="heavy" spc="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2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университеты</a:t>
            </a:r>
            <a:r>
              <a:rPr sz="2600" u="heavy" spc="114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из</a:t>
            </a:r>
            <a:r>
              <a:rPr sz="2600" spc="310" dirty="0">
                <a:latin typeface="Tahoma"/>
                <a:cs typeface="Tahoma"/>
              </a:rPr>
              <a:t> </a:t>
            </a:r>
            <a:r>
              <a:rPr sz="2600" u="heavy" spc="3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доступных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7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вам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29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на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2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данный</a:t>
            </a:r>
            <a:r>
              <a:rPr sz="2600" u="heavy" spc="1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2600" u="heavy" spc="33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момент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4449" y="7755218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112319"/>
            <a:ext cx="11304270" cy="656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5755" indent="335280">
              <a:lnSpc>
                <a:spcPct val="115399"/>
              </a:lnSpc>
              <a:spcBef>
                <a:spcPts val="100"/>
              </a:spcBef>
              <a:buAutoNum type="arabicPeriod"/>
              <a:tabLst>
                <a:tab pos="347980" algn="l"/>
              </a:tabLst>
            </a:pPr>
            <a:r>
              <a:rPr sz="2600" spc="320" dirty="0">
                <a:latin typeface="Tahoma"/>
                <a:cs typeface="Tahoma"/>
              </a:rPr>
              <a:t>Аттестат/диплом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15" dirty="0">
                <a:latin typeface="Tahoma"/>
                <a:cs typeface="Tahoma"/>
              </a:rPr>
              <a:t>(если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60" dirty="0">
                <a:latin typeface="Tahoma"/>
                <a:cs typeface="Tahoma"/>
              </a:rPr>
              <a:t>вы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20" dirty="0">
                <a:latin typeface="Tahoma"/>
                <a:cs typeface="Tahoma"/>
              </a:rPr>
              <a:t>ещё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45" dirty="0">
                <a:latin typeface="Tahoma"/>
                <a:cs typeface="Tahoma"/>
              </a:rPr>
              <a:t>обучаетесь,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75" dirty="0">
                <a:latin typeface="Tahoma"/>
                <a:cs typeface="Tahoma"/>
              </a:rPr>
              <a:t>вам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нужно </a:t>
            </a:r>
            <a:r>
              <a:rPr sz="2600" spc="295" dirty="0">
                <a:latin typeface="Tahoma"/>
                <a:cs typeface="Tahoma"/>
              </a:rPr>
              <a:t>взять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справку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35" dirty="0">
                <a:latin typeface="Tahoma"/>
                <a:cs typeface="Tahoma"/>
              </a:rPr>
              <a:t>из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вашего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50" dirty="0">
                <a:latin typeface="Tahoma"/>
                <a:cs typeface="Tahoma"/>
              </a:rPr>
              <a:t>учебного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60" dirty="0">
                <a:latin typeface="Tahoma"/>
                <a:cs typeface="Tahoma"/>
              </a:rPr>
              <a:t>заведения,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29" dirty="0">
                <a:latin typeface="Tahoma"/>
                <a:cs typeface="Tahoma"/>
              </a:rPr>
              <a:t>что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35" dirty="0">
                <a:latin typeface="Tahoma"/>
                <a:cs typeface="Tahoma"/>
              </a:rPr>
              <a:t>вы </a:t>
            </a:r>
            <a:r>
              <a:rPr sz="2600" spc="280" dirty="0">
                <a:latin typeface="Tahoma"/>
                <a:cs typeface="Tahoma"/>
              </a:rPr>
              <a:t>обучаетесь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на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20" dirty="0">
                <a:latin typeface="Tahoma"/>
                <a:cs typeface="Tahoma"/>
              </a:rPr>
              <a:t>последнем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40" dirty="0">
                <a:latin typeface="Tahoma"/>
                <a:cs typeface="Tahoma"/>
              </a:rPr>
              <a:t>курсе,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405" dirty="0">
                <a:latin typeface="Tahoma"/>
                <a:cs typeface="Tahoma"/>
              </a:rPr>
              <a:t>с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датой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54" dirty="0">
                <a:latin typeface="Tahoma"/>
                <a:cs typeface="Tahoma"/>
              </a:rPr>
              <a:t>окончания </a:t>
            </a:r>
            <a:r>
              <a:rPr sz="2600" spc="220" dirty="0">
                <a:latin typeface="Tahoma"/>
                <a:cs typeface="Tahoma"/>
              </a:rPr>
              <a:t>обучения,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справка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должна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00" dirty="0">
                <a:latin typeface="Tahoma"/>
                <a:cs typeface="Tahoma"/>
              </a:rPr>
              <a:t>быть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переведена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на</a:t>
            </a:r>
            <a:r>
              <a:rPr sz="2600" spc="120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английский </a:t>
            </a:r>
            <a:r>
              <a:rPr sz="2600" spc="250" dirty="0">
                <a:latin typeface="Tahoma"/>
                <a:cs typeface="Tahoma"/>
              </a:rPr>
              <a:t>язык,</a:t>
            </a:r>
            <a:r>
              <a:rPr sz="2600" spc="10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перевод</a:t>
            </a:r>
            <a:r>
              <a:rPr sz="2600" spc="100" dirty="0">
                <a:latin typeface="Tahoma"/>
                <a:cs typeface="Tahoma"/>
              </a:rPr>
              <a:t> </a:t>
            </a:r>
            <a:r>
              <a:rPr sz="2600" spc="300" dirty="0">
                <a:latin typeface="Tahoma"/>
                <a:cs typeface="Tahoma"/>
              </a:rPr>
              <a:t>должен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95" dirty="0">
                <a:latin typeface="Tahoma"/>
                <a:cs typeface="Tahoma"/>
              </a:rPr>
              <a:t>заверить</a:t>
            </a:r>
            <a:r>
              <a:rPr sz="2600" spc="10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нотариус</a:t>
            </a:r>
            <a:endParaRPr sz="2600">
              <a:latin typeface="Tahoma"/>
              <a:cs typeface="Tahoma"/>
            </a:endParaRPr>
          </a:p>
          <a:p>
            <a:pPr marL="12700" marR="5080" indent="435609">
              <a:lnSpc>
                <a:spcPct val="115399"/>
              </a:lnSpc>
              <a:spcBef>
                <a:spcPts val="2775"/>
              </a:spcBef>
              <a:buAutoNum type="arabicPeriod"/>
              <a:tabLst>
                <a:tab pos="448309" algn="l"/>
              </a:tabLst>
            </a:pPr>
            <a:r>
              <a:rPr sz="2600" spc="370" dirty="0">
                <a:solidFill>
                  <a:srgbClr val="535353"/>
                </a:solidFill>
                <a:latin typeface="Tahoma"/>
                <a:cs typeface="Tahoma"/>
              </a:rPr>
              <a:t>Выписка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5" dirty="0">
                <a:solidFill>
                  <a:srgbClr val="535353"/>
                </a:solidFill>
                <a:latin typeface="Tahoma"/>
                <a:cs typeface="Tahoma"/>
              </a:rPr>
              <a:t>оценок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80" dirty="0">
                <a:solidFill>
                  <a:srgbClr val="535353"/>
                </a:solidFill>
                <a:latin typeface="Tahoma"/>
                <a:cs typeface="Tahoma"/>
              </a:rPr>
              <a:t>(для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студентов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25" dirty="0">
                <a:solidFill>
                  <a:srgbClr val="535353"/>
                </a:solidFill>
                <a:latin typeface="Tahoma"/>
                <a:cs typeface="Tahoma"/>
              </a:rPr>
              <a:t>выписка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должна </a:t>
            </a:r>
            <a:r>
              <a:rPr sz="2600" spc="305" dirty="0">
                <a:solidFill>
                  <a:srgbClr val="535353"/>
                </a:solidFill>
                <a:latin typeface="Tahoma"/>
                <a:cs typeface="Tahoma"/>
              </a:rPr>
              <a:t>содержать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оценки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55" dirty="0">
                <a:solidFill>
                  <a:srgbClr val="535353"/>
                </a:solidFill>
                <a:latin typeface="Tahoma"/>
                <a:cs typeface="Tahoma"/>
              </a:rPr>
              <a:t>за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20" dirty="0">
                <a:solidFill>
                  <a:srgbClr val="535353"/>
                </a:solidFill>
                <a:latin typeface="Tahoma"/>
                <a:cs typeface="Tahoma"/>
              </a:rPr>
              <a:t>все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пройденные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семестры,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должна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стоять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65" dirty="0">
                <a:solidFill>
                  <a:srgbClr val="535353"/>
                </a:solidFill>
                <a:latin typeface="Tahoma"/>
                <a:cs typeface="Tahoma"/>
              </a:rPr>
              <a:t>печать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учреждения,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для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школьников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25" dirty="0">
                <a:solidFill>
                  <a:srgbClr val="535353"/>
                </a:solidFill>
                <a:latin typeface="Tahoma"/>
                <a:cs typeface="Tahoma"/>
              </a:rPr>
              <a:t>выписка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должна </a:t>
            </a:r>
            <a:r>
              <a:rPr sz="2600" spc="305" dirty="0">
                <a:solidFill>
                  <a:srgbClr val="535353"/>
                </a:solidFill>
                <a:latin typeface="Tahoma"/>
                <a:cs typeface="Tahoma"/>
              </a:rPr>
              <a:t>содержать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оценки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55" dirty="0">
                <a:solidFill>
                  <a:srgbClr val="535353"/>
                </a:solidFill>
                <a:latin typeface="Tahoma"/>
                <a:cs typeface="Tahoma"/>
              </a:rPr>
              <a:t>за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535353"/>
                </a:solidFill>
                <a:latin typeface="Tahoma"/>
                <a:cs typeface="Tahoma"/>
              </a:rPr>
              <a:t>9/10/11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45" dirty="0">
                <a:solidFill>
                  <a:srgbClr val="535353"/>
                </a:solidFill>
                <a:latin typeface="Tahoma"/>
                <a:cs typeface="Tahoma"/>
              </a:rPr>
              <a:t>класс)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AutoNum type="arabicPeriod"/>
            </a:pPr>
            <a:endParaRPr sz="2600">
              <a:latin typeface="Tahoma"/>
              <a:cs typeface="Tahoma"/>
            </a:endParaRPr>
          </a:p>
          <a:p>
            <a:pPr marL="455295" indent="-442595">
              <a:lnSpc>
                <a:spcPct val="100000"/>
              </a:lnSpc>
              <a:buAutoNum type="arabicPeriod"/>
              <a:tabLst>
                <a:tab pos="455295" algn="l"/>
              </a:tabLst>
            </a:pPr>
            <a:r>
              <a:rPr sz="2600" spc="300" dirty="0">
                <a:latin typeface="Tahoma"/>
                <a:cs typeface="Tahoma"/>
              </a:rPr>
              <a:t>Цветная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70" dirty="0">
                <a:latin typeface="Tahoma"/>
                <a:cs typeface="Tahoma"/>
              </a:rPr>
              <a:t>копия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54" dirty="0">
                <a:latin typeface="Tahoma"/>
                <a:cs typeface="Tahoma"/>
              </a:rPr>
              <a:t>загранпаспорта.</a:t>
            </a:r>
            <a:endParaRPr sz="2600">
              <a:latin typeface="Tahoma"/>
              <a:cs typeface="Tahoma"/>
            </a:endParaRPr>
          </a:p>
          <a:p>
            <a:pPr marL="12700" marR="1304925" indent="451484">
              <a:lnSpc>
                <a:spcPct val="115399"/>
              </a:lnSpc>
              <a:spcBef>
                <a:spcPts val="2775"/>
              </a:spcBef>
              <a:buAutoNum type="arabicPeriod"/>
              <a:tabLst>
                <a:tab pos="464184" algn="l"/>
              </a:tabLst>
            </a:pPr>
            <a:r>
              <a:rPr sz="2600" spc="365" dirty="0">
                <a:solidFill>
                  <a:srgbClr val="535353"/>
                </a:solidFill>
                <a:latin typeface="Tahoma"/>
                <a:cs typeface="Tahoma"/>
              </a:rPr>
              <a:t>Два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5" dirty="0">
                <a:solidFill>
                  <a:srgbClr val="535353"/>
                </a:solidFill>
                <a:latin typeface="Tahoma"/>
                <a:cs typeface="Tahoma"/>
              </a:rPr>
              <a:t>рекомендательных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50" dirty="0">
                <a:solidFill>
                  <a:srgbClr val="535353"/>
                </a:solidFill>
                <a:latin typeface="Tahoma"/>
                <a:cs typeface="Tahoma"/>
              </a:rPr>
              <a:t>письма</a:t>
            </a:r>
            <a:r>
              <a:rPr sz="2600" spc="12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(от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профессора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60" dirty="0">
                <a:solidFill>
                  <a:srgbClr val="535353"/>
                </a:solidFill>
                <a:latin typeface="Tahoma"/>
                <a:cs typeface="Tahoma"/>
              </a:rPr>
              <a:t>или </a:t>
            </a:r>
            <a:r>
              <a:rPr sz="2600" spc="240" dirty="0">
                <a:solidFill>
                  <a:srgbClr val="535353"/>
                </a:solidFill>
                <a:latin typeface="Tahoma"/>
                <a:cs typeface="Tahoma"/>
              </a:rPr>
              <a:t>доцента,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0" dirty="0">
                <a:solidFill>
                  <a:srgbClr val="535353"/>
                </a:solidFill>
                <a:latin typeface="Tahoma"/>
                <a:cs typeface="Tahoma"/>
              </a:rPr>
              <a:t>преподавателей).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8"/>
            <a:ext cx="2419349" cy="542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2122" y="4578288"/>
            <a:ext cx="5894358" cy="55478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1000156"/>
            <a:ext cx="65131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09" dirty="0">
                <a:solidFill>
                  <a:srgbClr val="070707"/>
                </a:solidFill>
              </a:rPr>
              <a:t>Требуемые</a:t>
            </a:r>
            <a:r>
              <a:rPr sz="4000" spc="150" dirty="0">
                <a:solidFill>
                  <a:srgbClr val="070707"/>
                </a:solidFill>
              </a:rPr>
              <a:t> </a:t>
            </a:r>
            <a:r>
              <a:rPr sz="4000" spc="500" dirty="0">
                <a:solidFill>
                  <a:srgbClr val="070707"/>
                </a:solidFill>
              </a:rPr>
              <a:t>документы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936107"/>
            <a:ext cx="10908030" cy="692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9245" indent="443230">
              <a:lnSpc>
                <a:spcPct val="115399"/>
              </a:lnSpc>
              <a:spcBef>
                <a:spcPts val="100"/>
              </a:spcBef>
              <a:buAutoNum type="arabicPeriod" startAt="5"/>
              <a:tabLst>
                <a:tab pos="455930" algn="l"/>
              </a:tabLst>
            </a:pPr>
            <a:r>
              <a:rPr sz="2600" spc="305" dirty="0">
                <a:latin typeface="Tahoma"/>
                <a:cs typeface="Tahoma"/>
              </a:rPr>
              <a:t>Мотивационное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40" dirty="0">
                <a:latin typeface="Tahoma"/>
                <a:cs typeface="Tahoma"/>
              </a:rPr>
              <a:t>письмо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110" dirty="0">
                <a:latin typeface="Tahoma"/>
                <a:cs typeface="Tahoma"/>
              </a:rPr>
              <a:t>(от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595" dirty="0">
                <a:latin typeface="Tahoma"/>
                <a:cs typeface="Tahoma"/>
              </a:rPr>
              <a:t>800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до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30" dirty="0">
                <a:latin typeface="Tahoma"/>
                <a:cs typeface="Tahoma"/>
              </a:rPr>
              <a:t>1500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75" dirty="0">
                <a:latin typeface="Tahoma"/>
                <a:cs typeface="Tahoma"/>
              </a:rPr>
              <a:t>символов,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445" dirty="0">
                <a:latin typeface="Tahoma"/>
                <a:cs typeface="Tahoma"/>
              </a:rPr>
              <a:t>мы </a:t>
            </a:r>
            <a:r>
              <a:rPr sz="2600" spc="340" dirty="0">
                <a:latin typeface="Tahoma"/>
                <a:cs typeface="Tahoma"/>
              </a:rPr>
              <a:t>пишем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сами,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70" dirty="0">
                <a:latin typeface="Tahoma"/>
                <a:cs typeface="Tahoma"/>
              </a:rPr>
              <a:t>но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надо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5" dirty="0">
                <a:latin typeface="Tahoma"/>
                <a:cs typeface="Tahoma"/>
              </a:rPr>
              <a:t>будет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заполнить</a:t>
            </a:r>
            <a:r>
              <a:rPr sz="2600" spc="105" dirty="0">
                <a:latin typeface="Tahoma"/>
                <a:cs typeface="Tahoma"/>
              </a:rPr>
              <a:t> </a:t>
            </a:r>
            <a:r>
              <a:rPr sz="2600" spc="170" dirty="0">
                <a:latin typeface="Tahoma"/>
                <a:cs typeface="Tahoma"/>
              </a:rPr>
              <a:t>анкету).</a:t>
            </a:r>
            <a:endParaRPr sz="2600">
              <a:latin typeface="Tahoma"/>
              <a:cs typeface="Tahoma"/>
            </a:endParaRPr>
          </a:p>
          <a:p>
            <a:pPr marL="12700" marR="259079" indent="449580">
              <a:lnSpc>
                <a:spcPct val="115399"/>
              </a:lnSpc>
              <a:spcBef>
                <a:spcPts val="2775"/>
              </a:spcBef>
              <a:buAutoNum type="arabicPeriod" startAt="5"/>
              <a:tabLst>
                <a:tab pos="462280" algn="l"/>
              </a:tabLst>
            </a:pPr>
            <a:r>
              <a:rPr sz="2600" spc="325" dirty="0">
                <a:solidFill>
                  <a:srgbClr val="535353"/>
                </a:solidFill>
                <a:latin typeface="Tahoma"/>
                <a:cs typeface="Tahoma"/>
              </a:rPr>
              <a:t>Справка</a:t>
            </a:r>
            <a:r>
              <a:rPr sz="2600" spc="12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об</a:t>
            </a:r>
            <a:r>
              <a:rPr sz="2600" spc="12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отсутствии</a:t>
            </a:r>
            <a:r>
              <a:rPr sz="2600" spc="12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40" dirty="0">
                <a:solidFill>
                  <a:srgbClr val="535353"/>
                </a:solidFill>
                <a:latin typeface="Tahoma"/>
                <a:cs typeface="Tahoma"/>
              </a:rPr>
              <a:t>судимости</a:t>
            </a:r>
            <a:r>
              <a:rPr sz="2600" spc="12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(заказывается</a:t>
            </a:r>
            <a:r>
              <a:rPr sz="2600" spc="12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на </a:t>
            </a:r>
            <a:r>
              <a:rPr sz="2600" spc="240" dirty="0">
                <a:solidFill>
                  <a:srgbClr val="535353"/>
                </a:solidFill>
                <a:latin typeface="Tahoma"/>
                <a:cs typeface="Tahoma"/>
              </a:rPr>
              <a:t>гос.услугах,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5" dirty="0">
                <a:solidFill>
                  <a:srgbClr val="535353"/>
                </a:solidFill>
                <a:latin typeface="Tahoma"/>
                <a:cs typeface="Tahoma"/>
              </a:rPr>
              <a:t>справка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5" dirty="0">
                <a:solidFill>
                  <a:srgbClr val="535353"/>
                </a:solidFill>
                <a:latin typeface="Tahoma"/>
                <a:cs typeface="Tahoma"/>
              </a:rPr>
              <a:t>должна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быть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переведена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на </a:t>
            </a:r>
            <a:r>
              <a:rPr sz="2600" spc="290" dirty="0">
                <a:solidFill>
                  <a:srgbClr val="535353"/>
                </a:solidFill>
                <a:latin typeface="Tahoma"/>
                <a:cs typeface="Tahoma"/>
              </a:rPr>
              <a:t>английский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50" dirty="0">
                <a:solidFill>
                  <a:srgbClr val="535353"/>
                </a:solidFill>
                <a:latin typeface="Tahoma"/>
                <a:cs typeface="Tahoma"/>
              </a:rPr>
              <a:t>язык,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5" dirty="0">
                <a:solidFill>
                  <a:srgbClr val="535353"/>
                </a:solidFill>
                <a:latin typeface="Tahoma"/>
                <a:cs typeface="Tahoma"/>
              </a:rPr>
              <a:t>перевод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должен</a:t>
            </a:r>
            <a:r>
              <a:rPr sz="260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заверить</a:t>
            </a:r>
            <a:r>
              <a:rPr sz="260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9" dirty="0">
                <a:solidFill>
                  <a:srgbClr val="535353"/>
                </a:solidFill>
                <a:latin typeface="Tahoma"/>
                <a:cs typeface="Tahoma"/>
              </a:rPr>
              <a:t>нотариусом).</a:t>
            </a:r>
            <a:endParaRPr sz="2600">
              <a:latin typeface="Tahoma"/>
              <a:cs typeface="Tahoma"/>
            </a:endParaRPr>
          </a:p>
          <a:p>
            <a:pPr marL="12700" marR="507365" indent="414655">
              <a:lnSpc>
                <a:spcPct val="115399"/>
              </a:lnSpc>
              <a:spcBef>
                <a:spcPts val="2770"/>
              </a:spcBef>
              <a:buAutoNum type="arabicPeriod" startAt="5"/>
              <a:tabLst>
                <a:tab pos="427355" algn="l"/>
              </a:tabLst>
            </a:pPr>
            <a:r>
              <a:rPr sz="2600" spc="360" dirty="0">
                <a:latin typeface="Tahoma"/>
                <a:cs typeface="Tahoma"/>
              </a:rPr>
              <a:t>Медкомиссия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145" dirty="0">
                <a:latin typeface="Tahoma"/>
                <a:cs typeface="Tahoma"/>
              </a:rPr>
              <a:t>(на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английском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90" dirty="0">
                <a:latin typeface="Tahoma"/>
                <a:cs typeface="Tahoma"/>
              </a:rPr>
              <a:t>и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15" dirty="0">
                <a:latin typeface="Tahoma"/>
                <a:cs typeface="Tahoma"/>
              </a:rPr>
              <a:t>китайском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310" dirty="0">
                <a:latin typeface="Tahoma"/>
                <a:cs typeface="Tahoma"/>
              </a:rPr>
              <a:t>языке </a:t>
            </a:r>
            <a:r>
              <a:rPr sz="2600" spc="315" dirty="0">
                <a:latin typeface="Tahoma"/>
                <a:cs typeface="Tahoma"/>
              </a:rPr>
              <a:t>документ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0" dirty="0">
                <a:latin typeface="Tahoma"/>
                <a:cs typeface="Tahoma"/>
              </a:rPr>
              <a:t>должен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20" dirty="0">
                <a:latin typeface="Tahoma"/>
                <a:cs typeface="Tahoma"/>
              </a:rPr>
              <a:t>иметь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две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60" dirty="0">
                <a:latin typeface="Tahoma"/>
                <a:cs typeface="Tahoma"/>
              </a:rPr>
              <a:t>печати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15" dirty="0">
                <a:latin typeface="Tahoma"/>
                <a:cs typeface="Tahoma"/>
              </a:rPr>
              <a:t>врача,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305" dirty="0">
                <a:latin typeface="Tahoma"/>
                <a:cs typeface="Tahoma"/>
              </a:rPr>
              <a:t>должна</a:t>
            </a:r>
            <a:r>
              <a:rPr sz="2600" spc="110" dirty="0">
                <a:latin typeface="Tahoma"/>
                <a:cs typeface="Tahoma"/>
              </a:rPr>
              <a:t> </a:t>
            </a:r>
            <a:r>
              <a:rPr sz="2600" spc="280" dirty="0">
                <a:latin typeface="Tahoma"/>
                <a:cs typeface="Tahoma"/>
              </a:rPr>
              <a:t>быть </a:t>
            </a:r>
            <a:r>
              <a:rPr sz="2600" spc="295" dirty="0">
                <a:latin typeface="Tahoma"/>
                <a:cs typeface="Tahoma"/>
              </a:rPr>
              <a:t>заполнена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70" dirty="0">
                <a:latin typeface="Tahoma"/>
                <a:cs typeface="Tahoma"/>
              </a:rPr>
              <a:t>по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275" dirty="0">
                <a:latin typeface="Tahoma"/>
                <a:cs typeface="Tahoma"/>
              </a:rPr>
              <a:t>определённой</a:t>
            </a:r>
            <a:r>
              <a:rPr sz="2600" spc="114" dirty="0">
                <a:latin typeface="Tahoma"/>
                <a:cs typeface="Tahoma"/>
              </a:rPr>
              <a:t> </a:t>
            </a:r>
            <a:r>
              <a:rPr sz="2600" spc="150" dirty="0">
                <a:latin typeface="Tahoma"/>
                <a:cs typeface="Tahoma"/>
              </a:rPr>
              <a:t>форме).</a:t>
            </a:r>
            <a:endParaRPr sz="2600">
              <a:latin typeface="Tahoma"/>
              <a:cs typeface="Tahoma"/>
            </a:endParaRPr>
          </a:p>
          <a:p>
            <a:pPr marL="12700" marR="5080" indent="454025">
              <a:lnSpc>
                <a:spcPct val="115399"/>
              </a:lnSpc>
              <a:spcBef>
                <a:spcPts val="2775"/>
              </a:spcBef>
              <a:buAutoNum type="arabicPeriod" startAt="5"/>
              <a:tabLst>
                <a:tab pos="466725" algn="l"/>
              </a:tabLst>
            </a:pPr>
            <a:r>
              <a:rPr sz="2600" spc="270" dirty="0">
                <a:solidFill>
                  <a:srgbClr val="535353"/>
                </a:solidFill>
                <a:latin typeface="Tahoma"/>
                <a:cs typeface="Tahoma"/>
              </a:rPr>
              <a:t>Фотографии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5" dirty="0">
                <a:solidFill>
                  <a:srgbClr val="535353"/>
                </a:solidFill>
                <a:latin typeface="Tahoma"/>
                <a:cs typeface="Tahoma"/>
              </a:rPr>
              <a:t>три*четыре(паспортного</a:t>
            </a:r>
            <a:r>
              <a:rPr sz="2600" spc="12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40" dirty="0">
                <a:solidFill>
                  <a:srgbClr val="535353"/>
                </a:solidFill>
                <a:latin typeface="Tahoma"/>
                <a:cs typeface="Tahoma"/>
              </a:rPr>
              <a:t>формата,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на</a:t>
            </a:r>
            <a:r>
              <a:rPr sz="2600" spc="12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300" dirty="0">
                <a:solidFill>
                  <a:srgbClr val="535353"/>
                </a:solidFill>
                <a:latin typeface="Tahoma"/>
                <a:cs typeface="Tahoma"/>
              </a:rPr>
              <a:t>белом </a:t>
            </a:r>
            <a:r>
              <a:rPr sz="2600" spc="160" dirty="0">
                <a:solidFill>
                  <a:srgbClr val="535353"/>
                </a:solidFill>
                <a:latin typeface="Tahoma"/>
                <a:cs typeface="Tahoma"/>
              </a:rPr>
              <a:t>фоне,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29" dirty="0">
                <a:solidFill>
                  <a:srgbClr val="535353"/>
                </a:solidFill>
                <a:latin typeface="Tahoma"/>
                <a:cs typeface="Tahoma"/>
              </a:rPr>
              <a:t>цветная,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без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80" dirty="0">
                <a:solidFill>
                  <a:srgbClr val="535353"/>
                </a:solidFill>
                <a:latin typeface="Tahoma"/>
                <a:cs typeface="Tahoma"/>
              </a:rPr>
              <a:t>макияжа,</a:t>
            </a:r>
            <a:r>
              <a:rPr sz="2600" spc="114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в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295" dirty="0">
                <a:solidFill>
                  <a:srgbClr val="535353"/>
                </a:solidFill>
                <a:latin typeface="Tahoma"/>
                <a:cs typeface="Tahoma"/>
              </a:rPr>
              <a:t>электронном</a:t>
            </a:r>
            <a:r>
              <a:rPr sz="260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600" spc="145" dirty="0">
                <a:solidFill>
                  <a:srgbClr val="535353"/>
                </a:solidFill>
                <a:latin typeface="Tahoma"/>
                <a:cs typeface="Tahoma"/>
              </a:rPr>
              <a:t>виде).</a:t>
            </a:r>
            <a:endParaRPr sz="2600">
              <a:latin typeface="Tahoma"/>
              <a:cs typeface="Tahoma"/>
            </a:endParaRPr>
          </a:p>
          <a:p>
            <a:pPr marL="12700" marR="4011929" indent="449580">
              <a:lnSpc>
                <a:spcPct val="115399"/>
              </a:lnSpc>
              <a:spcBef>
                <a:spcPts val="2775"/>
              </a:spcBef>
              <a:buAutoNum type="arabicPeriod" startAt="5"/>
              <a:tabLst>
                <a:tab pos="462280" algn="l"/>
              </a:tabLst>
            </a:pPr>
            <a:r>
              <a:rPr sz="2600" spc="335" dirty="0">
                <a:latin typeface="Tahoma"/>
                <a:cs typeface="Tahoma"/>
              </a:rPr>
              <a:t>Языковой</a:t>
            </a:r>
            <a:r>
              <a:rPr sz="2600" spc="95" dirty="0">
                <a:latin typeface="Tahoma"/>
                <a:cs typeface="Tahoma"/>
              </a:rPr>
              <a:t> </a:t>
            </a:r>
            <a:r>
              <a:rPr sz="2600" spc="254" dirty="0">
                <a:latin typeface="Tahoma"/>
                <a:cs typeface="Tahoma"/>
              </a:rPr>
              <a:t>сертификат </a:t>
            </a:r>
            <a:r>
              <a:rPr sz="2600" spc="295" dirty="0">
                <a:latin typeface="Tahoma"/>
                <a:cs typeface="Tahoma"/>
              </a:rPr>
              <a:t>(HSK,HSKK,IELTS,TOEFL,DUOLINGO).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8"/>
            <a:ext cx="2419349" cy="542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2122" y="4578288"/>
            <a:ext cx="5894358" cy="55478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998250"/>
            <a:ext cx="65131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09" dirty="0">
                <a:solidFill>
                  <a:srgbClr val="070707"/>
                </a:solidFill>
              </a:rPr>
              <a:t>Требуемые</a:t>
            </a:r>
            <a:r>
              <a:rPr sz="4000" spc="150" dirty="0">
                <a:solidFill>
                  <a:srgbClr val="070707"/>
                </a:solidFill>
              </a:rPr>
              <a:t> </a:t>
            </a:r>
            <a:r>
              <a:rPr sz="4000" spc="500" dirty="0">
                <a:solidFill>
                  <a:srgbClr val="070707"/>
                </a:solidFill>
              </a:rPr>
              <a:t>документы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8"/>
            <a:ext cx="2419349" cy="542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6792" y="826950"/>
            <a:ext cx="5734049" cy="84296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68792" y="4410831"/>
            <a:ext cx="62395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540" dirty="0">
                <a:solidFill>
                  <a:srgbClr val="070707"/>
                </a:solidFill>
              </a:rPr>
              <a:t>Пример</a:t>
            </a:r>
            <a:r>
              <a:rPr sz="4000" spc="160" dirty="0">
                <a:solidFill>
                  <a:srgbClr val="070707"/>
                </a:solidFill>
              </a:rPr>
              <a:t> </a:t>
            </a:r>
            <a:r>
              <a:rPr sz="4000" spc="535" dirty="0">
                <a:solidFill>
                  <a:srgbClr val="070707"/>
                </a:solidFill>
              </a:rPr>
              <a:t>медкомиссии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5BBA-1A46-C63C-7EC6-95F65C5C3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952500"/>
            <a:ext cx="16292347" cy="692497"/>
          </a:xfrm>
        </p:spPr>
        <p:txBody>
          <a:bodyPr/>
          <a:lstStyle/>
          <a:p>
            <a:r>
              <a:rPr lang="ru-RU" altLang="zh-CN" dirty="0"/>
              <a:t>Выбор Университетов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1DC56-5C74-2AF0-2922-1A22A1FE320E}"/>
              </a:ext>
            </a:extLst>
          </p:cNvPr>
          <p:cNvSpPr txBox="1"/>
          <p:nvPr/>
        </p:nvSpPr>
        <p:spPr>
          <a:xfrm>
            <a:off x="952500" y="2324100"/>
            <a:ext cx="16383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sz="2400" dirty="0"/>
              <a:t>От 5 ВУЗов в трех категориях</a:t>
            </a:r>
          </a:p>
          <a:p>
            <a:endParaRPr lang="ru-RU" altLang="zh-CN" sz="2400" dirty="0"/>
          </a:p>
          <a:p>
            <a:r>
              <a:rPr lang="ru-RU" altLang="zh-CN" sz="2400" b="1" dirty="0"/>
              <a:t>А: 2-3 ВУЗа. </a:t>
            </a:r>
            <a:r>
              <a:rPr lang="ru-RU" altLang="zh-CN" sz="2400" dirty="0"/>
              <a:t>Университеты в которые больше всего хотим поступить. Выше требования и выше конкуретность</a:t>
            </a:r>
          </a:p>
          <a:p>
            <a:r>
              <a:rPr lang="ru-RU" altLang="zh-CN" sz="2400" b="1" dirty="0"/>
              <a:t>Б: 2-3 ВУЗа. </a:t>
            </a:r>
            <a:r>
              <a:rPr lang="ru-RU" altLang="zh-CN" sz="2400" dirty="0"/>
              <a:t>Хорошие ВУЗы, но с более мягкими условиями по поступлению и более низкой конкуретностью</a:t>
            </a:r>
          </a:p>
          <a:p>
            <a:r>
              <a:rPr lang="ru-RU" altLang="zh-CN" sz="2400" b="1" dirty="0"/>
              <a:t>С: Запасные ВУЗы. </a:t>
            </a:r>
            <a:r>
              <a:rPr lang="ru-RU" altLang="zh-CN" sz="2400" dirty="0"/>
              <a:t>Поступление на языковой год для улучшения языка, портфолио и постпление на магистратуру через год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3256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BB77-F636-414F-96A2-ACC2229D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028700"/>
            <a:ext cx="15156573" cy="692497"/>
          </a:xfrm>
        </p:spPr>
        <p:txBody>
          <a:bodyPr/>
          <a:lstStyle/>
          <a:p>
            <a:r>
              <a:rPr lang="en-US" altLang="zh-CN" dirty="0"/>
              <a:t>Nanjing University of Aeronautics and Astronautics (NUAA)</a:t>
            </a:r>
            <a:endParaRPr lang="zh-CN" altLang="en-US" dirty="0"/>
          </a:p>
        </p:txBody>
      </p:sp>
      <p:pic>
        <p:nvPicPr>
          <p:cNvPr id="1026" name="Picture 2" descr="Nanjing University of Aeronautics and Astronautics - Wikipedia">
            <a:extLst>
              <a:ext uri="{FF2B5EF4-FFF2-40B4-BE49-F238E27FC236}">
                <a16:creationId xmlns:a16="http://schemas.microsoft.com/office/drawing/2014/main" id="{F06D666A-EA33-9233-E45E-6837DDBF8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5600" y="1998921"/>
            <a:ext cx="3869376" cy="377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63B324-A159-EC4F-3072-878301590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019300"/>
            <a:ext cx="5642214" cy="312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09C21F-11EF-DDF2-A19D-5094A095C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295900"/>
            <a:ext cx="5566014" cy="222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45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CC1D-3F06-495F-67C7-18D4D452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9A57-EAAC-F709-F1D1-4D3DC9FF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028700"/>
            <a:ext cx="15156573" cy="692497"/>
          </a:xfrm>
        </p:spPr>
        <p:txBody>
          <a:bodyPr/>
          <a:lstStyle/>
          <a:p>
            <a:r>
              <a:rPr lang="en-US" altLang="zh-CN" dirty="0"/>
              <a:t>Nanjing University of Aeronautics and Astronautics (NUAA)</a:t>
            </a:r>
            <a:endParaRPr lang="zh-CN" altLang="en-US" dirty="0"/>
          </a:p>
        </p:txBody>
      </p:sp>
      <p:pic>
        <p:nvPicPr>
          <p:cNvPr id="1026" name="Picture 2" descr="Nanjing University of Aeronautics and Astronautics - Wikipedia">
            <a:extLst>
              <a:ext uri="{FF2B5EF4-FFF2-40B4-BE49-F238E27FC236}">
                <a16:creationId xmlns:a16="http://schemas.microsoft.com/office/drawing/2014/main" id="{1F409EE8-0818-249F-CA4E-D47917B4D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0" y="3255245"/>
            <a:ext cx="3869376" cy="377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C42A93-7D93-E8AE-51B8-2E3FD794946D}"/>
              </a:ext>
            </a:extLst>
          </p:cNvPr>
          <p:cNvSpPr txBox="1"/>
          <p:nvPr/>
        </p:nvSpPr>
        <p:spPr>
          <a:xfrm>
            <a:off x="1295400" y="3255245"/>
            <a:ext cx="10668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-Duolingo 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 110 баллов</a:t>
            </a:r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Доступные гранты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r>
              <a:rPr lang="ru-RU" altLang="zh-C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провинциальный/ </a:t>
            </a:r>
            <a:r>
              <a:rPr lang="ru-RU" altLang="zh-CN" sz="2800" dirty="0"/>
              <a:t>( покрытие 100% обучение + стипендия от 800 до 1500 юаней в месяц ) </a:t>
            </a:r>
            <a:endParaRPr lang="en-US" altLang="zh-CN" sz="2800" dirty="0"/>
          </a:p>
          <a:p>
            <a:r>
              <a:rPr lang="en-US" altLang="zh-CN" sz="2800" b="1" dirty="0"/>
              <a:t>Fly-high (</a:t>
            </a:r>
            <a:r>
              <a:rPr lang="ru-RU" altLang="zh-CN" sz="2800" b="1" dirty="0"/>
              <a:t>Университетский</a:t>
            </a:r>
            <a:r>
              <a:rPr lang="en-US" altLang="zh-CN" sz="2800" b="1" dirty="0"/>
              <a:t>)</a:t>
            </a:r>
            <a:r>
              <a:rPr lang="en-US" altLang="zh-CN" sz="2800" dirty="0"/>
              <a:t> – </a:t>
            </a:r>
            <a:r>
              <a:rPr lang="ru-RU" altLang="zh-CN" sz="2800" dirty="0"/>
              <a:t>покрытие 100% обучение на 1 год. Далее, возможность получать от 10,000 до 20,000 в год.</a:t>
            </a:r>
            <a:endParaRPr lang="en-US" altLang="zh-CN" sz="2800" dirty="0"/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284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C0803D-855E-97AE-072A-B15BCD00C8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47700"/>
            <a:ext cx="5334000" cy="4000500"/>
          </a:xfrm>
          <a:prstGeom prst="rect">
            <a:avLst/>
          </a:prstGeom>
        </p:spPr>
      </p:pic>
      <p:pic>
        <p:nvPicPr>
          <p:cNvPr id="2052" name="Picture 4" descr="About NUAA">
            <a:extLst>
              <a:ext uri="{FF2B5EF4-FFF2-40B4-BE49-F238E27FC236}">
                <a16:creationId xmlns:a16="http://schemas.microsoft.com/office/drawing/2014/main" id="{CF7C10AD-F29B-5E74-03F1-2B4F77E1E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206725"/>
            <a:ext cx="6772275" cy="451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our Foreign Expert Studios Established at NUAA - ISAC Teach in China">
            <a:extLst>
              <a:ext uri="{FF2B5EF4-FFF2-40B4-BE49-F238E27FC236}">
                <a16:creationId xmlns:a16="http://schemas.microsoft.com/office/drawing/2014/main" id="{7BED099F-1C3D-551E-6EAD-218C0B32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5126665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207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6249-9CD5-E7B1-2E0F-66ED6AA4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E0D4-9C79-7491-D065-8A9A443F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Northwestern Polytechnical University</a:t>
            </a:r>
            <a:endParaRPr lang="zh-CN" altLang="en-US" dirty="0"/>
          </a:p>
        </p:txBody>
      </p:sp>
      <p:pic>
        <p:nvPicPr>
          <p:cNvPr id="5122" name="Picture 2" descr="Northwestern Polytechnical University - Wikipedia">
            <a:extLst>
              <a:ext uri="{FF2B5EF4-FFF2-40B4-BE49-F238E27FC236}">
                <a16:creationId xmlns:a16="http://schemas.microsoft.com/office/drawing/2014/main" id="{F5194544-BF7C-CB45-81AF-BDCF1F8A9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4650" y="211385"/>
            <a:ext cx="39433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E36449-8A67-85D9-7AE0-5C296D6FD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435" y="2621417"/>
            <a:ext cx="14097000" cy="11502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F8F52A-15F6-5E14-2438-43372FD0C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57" y="4160178"/>
            <a:ext cx="13709765" cy="1076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4D459D-B098-0FB1-8987-6928A0A29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5588651"/>
            <a:ext cx="14756453" cy="81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75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A3A8-3E72-D3C5-C11D-784B2F9AB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DA16-C4EC-1F25-508B-87BEE4F4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Northwestern Polytechnical University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96D82-8166-5681-435C-D6D4E22F442C}"/>
              </a:ext>
            </a:extLst>
          </p:cNvPr>
          <p:cNvSpPr txBox="1"/>
          <p:nvPr/>
        </p:nvSpPr>
        <p:spPr>
          <a:xfrm>
            <a:off x="1122589" y="2145340"/>
            <a:ext cx="11125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Duolingo 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 1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баллов</a:t>
            </a:r>
          </a:p>
          <a:p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Доступные гранты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r>
              <a:rPr lang="ru-RU" altLang="zh-CN" sz="2800" dirty="0"/>
              <a:t>Университетский</a:t>
            </a:r>
            <a:endParaRPr lang="en-US" altLang="zh-CN" sz="2800" dirty="0"/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Провинциальный</a:t>
            </a:r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22" name="Picture 2" descr="Northwestern Polytechnical University - Wikipedia">
            <a:extLst>
              <a:ext uri="{FF2B5EF4-FFF2-40B4-BE49-F238E27FC236}">
                <a16:creationId xmlns:a16="http://schemas.microsoft.com/office/drawing/2014/main" id="{3327FB8C-6E49-0BE7-07BF-02089F0CD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600" y="604557"/>
            <a:ext cx="39433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71F57-11E8-E659-6F5B-432867EB8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532692"/>
            <a:ext cx="9862360" cy="236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1905E2-17CF-2221-4E1A-5956C27A1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6057900"/>
            <a:ext cx="9468337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79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09A3-6C95-6CE2-B4ED-71EA1CA15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8EC7D09-8C05-05B2-9782-A8F34FE18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571500"/>
            <a:ext cx="83058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B5A8297-A10A-1399-4901-94A8B2AF2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255236"/>
            <a:ext cx="6796626" cy="452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2931D813-52E7-71F1-C32D-184C598A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384" y="4531322"/>
            <a:ext cx="6796626" cy="4536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9BEAC53B-E0DC-BF54-4E0F-3F40BBC1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808" y="4905229"/>
            <a:ext cx="6638925" cy="443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12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B6F2-439A-AAA6-1503-0ED10F49C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411E-A4D6-8F4B-AE71-878D71AD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Beijing Institute of Technology</a:t>
            </a:r>
            <a:r>
              <a:rPr lang="ru-RU" altLang="zh-CN" dirty="0"/>
              <a:t> (</a:t>
            </a:r>
            <a:r>
              <a:rPr lang="en-US" altLang="zh-CN" dirty="0"/>
              <a:t>BIT</a:t>
            </a:r>
            <a:r>
              <a:rPr lang="ru-RU" altLang="zh-CN" dirty="0"/>
              <a:t>)</a:t>
            </a:r>
            <a:endParaRPr lang="zh-CN" altLang="en-US" dirty="0"/>
          </a:p>
        </p:txBody>
      </p:sp>
      <p:pic>
        <p:nvPicPr>
          <p:cNvPr id="7170" name="Picture 2" descr="Beijing Institute of Technology - Wikipedia">
            <a:extLst>
              <a:ext uri="{FF2B5EF4-FFF2-40B4-BE49-F238E27FC236}">
                <a16:creationId xmlns:a16="http://schemas.microsoft.com/office/drawing/2014/main" id="{9536B5BA-2975-52F9-C4E8-E3FF6F957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2200" y="1104900"/>
            <a:ext cx="40386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368F7A-9605-3B0C-BD7B-8930061A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83" y="2324100"/>
            <a:ext cx="12533973" cy="182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F44F12-4411-E7FA-8E51-9E3AF2839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10100"/>
            <a:ext cx="1372043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50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4486-1B07-74F9-A642-5C43BA80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C8D4-0C19-EA16-F86A-3EB43630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Beijing Institute of Technology</a:t>
            </a:r>
            <a:r>
              <a:rPr lang="ru-RU" altLang="zh-CN" dirty="0"/>
              <a:t> (</a:t>
            </a:r>
            <a:r>
              <a:rPr lang="en-US" altLang="zh-CN" dirty="0"/>
              <a:t>BIT</a:t>
            </a:r>
            <a:r>
              <a:rPr lang="ru-RU" altLang="zh-CN" dirty="0"/>
              <a:t>)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51CAE-10B5-551B-D873-332BBF2CD5FE}"/>
              </a:ext>
            </a:extLst>
          </p:cNvPr>
          <p:cNvSpPr txBox="1"/>
          <p:nvPr/>
        </p:nvSpPr>
        <p:spPr>
          <a:xfrm>
            <a:off x="1066800" y="2069752"/>
            <a:ext cx="11125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Duolingo 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 110 баллов</a:t>
            </a:r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u-RU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Доступные гранты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r>
              <a:rPr lang="en-US" altLang="zh-CN" sz="2800" dirty="0"/>
              <a:t>Beijing Government Scholarship</a:t>
            </a:r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ru-RU" altLang="zh-CN" sz="2800" dirty="0"/>
              <a:t> </a:t>
            </a:r>
          </a:p>
          <a:p>
            <a:r>
              <a:rPr lang="ru-RU" altLang="zh-CN" sz="2800" dirty="0"/>
              <a:t>Университетский</a:t>
            </a:r>
            <a:r>
              <a:rPr lang="en-US" altLang="zh-CN" sz="2800" dirty="0"/>
              <a:t> (BIT International Student Scholarship)</a:t>
            </a:r>
            <a:r>
              <a:rPr lang="ru-RU" altLang="zh-CN" sz="2800" dirty="0"/>
              <a:t> </a:t>
            </a:r>
            <a:r>
              <a:rPr lang="en-US" altLang="zh-CN" sz="2800" dirty="0"/>
              <a:t>– </a:t>
            </a:r>
            <a:r>
              <a:rPr lang="ru-RU" altLang="zh-CN" sz="2800" dirty="0"/>
              <a:t>на 4 года с полным и частичным покрытием и на 1 год с полным и частичным покрытием</a:t>
            </a:r>
            <a:r>
              <a:rPr lang="en-US" altLang="zh-CN" sz="2800" dirty="0"/>
              <a:t> </a:t>
            </a:r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altLang="zh-CN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zh-CN" altLang="en-US" sz="28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170" name="Picture 2" descr="Beijing Institute of Technology - Wikipedia">
            <a:extLst>
              <a:ext uri="{FF2B5EF4-FFF2-40B4-BE49-F238E27FC236}">
                <a16:creationId xmlns:a16="http://schemas.microsoft.com/office/drawing/2014/main" id="{CFD3B834-D3CB-1F1D-37A9-A0C42669E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525" y="680145"/>
            <a:ext cx="40386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95B3D6-3478-D20A-F392-5503F5112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11" y="3890027"/>
            <a:ext cx="8750750" cy="1657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0A182-1B19-AD0A-4640-1B0FA905B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6438900"/>
            <a:ext cx="7568839" cy="377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93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A0E06E76-9357-B69E-7794-7818AE410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266700"/>
            <a:ext cx="6532379" cy="435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undefined">
            <a:extLst>
              <a:ext uri="{FF2B5EF4-FFF2-40B4-BE49-F238E27FC236}">
                <a16:creationId xmlns:a16="http://schemas.microsoft.com/office/drawing/2014/main" id="{446D5D8E-94C4-FE3D-A095-A2C7AC641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4762500"/>
            <a:ext cx="7391400" cy="492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9F43F299-5254-9417-0F22-1963E29D0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2" y="571500"/>
            <a:ext cx="8508682" cy="601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032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B34B6-B11C-C0FF-5C1A-C6021F43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E3D-F0D8-E1FC-BBF9-A88835F8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Nanjing Tech University </a:t>
            </a:r>
            <a:endParaRPr lang="zh-CN" altLang="en-US" dirty="0"/>
          </a:p>
        </p:txBody>
      </p:sp>
      <p:pic>
        <p:nvPicPr>
          <p:cNvPr id="5" name="Picture 4" descr="Nanjing Tech University - Wikipedia">
            <a:extLst>
              <a:ext uri="{FF2B5EF4-FFF2-40B4-BE49-F238E27FC236}">
                <a16:creationId xmlns:a16="http://schemas.microsoft.com/office/drawing/2014/main" id="{790DF7A4-2750-8FE9-11C8-CB3468DA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0" y="952500"/>
            <a:ext cx="3152775" cy="3624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94FDA6-8D5A-7F2C-FA29-8B7DD8A13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57500"/>
            <a:ext cx="11874331" cy="9593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7348C0-AEC1-E692-9BC6-F57476424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05300"/>
            <a:ext cx="7911309" cy="25844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35F657-575E-509B-21B2-D27B8550C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0" y="4953109"/>
            <a:ext cx="6955997" cy="44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086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A0543-3E51-AD8D-60EA-176EA188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3F45-FD06-0FF7-8222-6DCD1789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Jiangsu University</a:t>
            </a:r>
            <a:endParaRPr lang="zh-CN" altLang="en-US" dirty="0"/>
          </a:p>
        </p:txBody>
      </p:sp>
      <p:pic>
        <p:nvPicPr>
          <p:cNvPr id="5" name="Picture 4" descr="Jiangsu University - Wikipedia">
            <a:extLst>
              <a:ext uri="{FF2B5EF4-FFF2-40B4-BE49-F238E27FC236}">
                <a16:creationId xmlns:a16="http://schemas.microsoft.com/office/drawing/2014/main" id="{0FC45B32-55A9-AABC-1642-9059870E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0" y="800100"/>
            <a:ext cx="3414713" cy="3231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AFA61C-9338-656A-2CDC-F66BBC90B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88768"/>
            <a:ext cx="7117256" cy="3524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054FFC-64B2-4D50-4F57-8D8A4072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829300"/>
            <a:ext cx="8001133" cy="3048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B61C45-A63E-E268-45DC-8BB70FD9F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0" y="4640576"/>
            <a:ext cx="8395366" cy="289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85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0186-2207-A39C-9379-A436B16B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8BB8-E61F-C2A3-6487-69BDF404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028700"/>
            <a:ext cx="15849600" cy="692497"/>
          </a:xfrm>
        </p:spPr>
        <p:txBody>
          <a:bodyPr/>
          <a:lstStyle/>
          <a:p>
            <a:r>
              <a:rPr lang="en-US" altLang="zh-CN" dirty="0"/>
              <a:t>Harbin Institute of Technology (HIT)</a:t>
            </a:r>
            <a:endParaRPr lang="zh-CN" altLang="en-US" dirty="0"/>
          </a:p>
        </p:txBody>
      </p:sp>
      <p:pic>
        <p:nvPicPr>
          <p:cNvPr id="3" name="Picture 2" descr="Harbin Institute of Technology - Wikipedia">
            <a:extLst>
              <a:ext uri="{FF2B5EF4-FFF2-40B4-BE49-F238E27FC236}">
                <a16:creationId xmlns:a16="http://schemas.microsoft.com/office/drawing/2014/main" id="{23668341-7ACA-67A9-7F89-318DE0284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0" y="647700"/>
            <a:ext cx="3610121" cy="3160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0F0C5E-D158-BF59-DA34-66D7AD11C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39" y="2102197"/>
            <a:ext cx="10225965" cy="1590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2577C8-4444-AB81-2F4D-05ACF92F9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709738"/>
            <a:ext cx="11230408" cy="1165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5023F2-B3A5-9610-0251-248F1069C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891819"/>
            <a:ext cx="12177565" cy="12287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DC585E-BA54-EBB0-6443-332D54EA40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6772255"/>
            <a:ext cx="9329827" cy="3276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1572E6-8543-E4C3-72A1-6098FCF3A7E8}"/>
              </a:ext>
            </a:extLst>
          </p:cNvPr>
          <p:cNvSpPr txBox="1"/>
          <p:nvPr/>
        </p:nvSpPr>
        <p:spPr>
          <a:xfrm>
            <a:off x="3020356" y="7124700"/>
            <a:ext cx="5951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i="0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</a:rPr>
              <a:t>HIT International Students Scholarship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19367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184071"/>
            <a:ext cx="9778365" cy="5831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04165">
              <a:lnSpc>
                <a:spcPct val="115799"/>
              </a:lnSpc>
              <a:spcBef>
                <a:spcPts val="95"/>
              </a:spcBef>
              <a:buAutoNum type="arabicPeriod"/>
              <a:tabLst>
                <a:tab pos="316865" algn="l"/>
              </a:tabLst>
            </a:pPr>
            <a:r>
              <a:rPr sz="2350" spc="330" dirty="0">
                <a:solidFill>
                  <a:srgbClr val="535353"/>
                </a:solidFill>
                <a:latin typeface="Tahoma"/>
                <a:cs typeface="Tahoma"/>
              </a:rPr>
              <a:t>Как</a:t>
            </a:r>
            <a:r>
              <a:rPr sz="2350" spc="9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75" dirty="0">
                <a:solidFill>
                  <a:srgbClr val="535353"/>
                </a:solidFill>
                <a:latin typeface="Tahoma"/>
                <a:cs typeface="Tahoma"/>
              </a:rPr>
              <a:t>поддерживать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00" dirty="0">
                <a:solidFill>
                  <a:srgbClr val="535353"/>
                </a:solidFill>
                <a:latin typeface="Tahoma"/>
                <a:cs typeface="Tahoma"/>
              </a:rPr>
              <a:t>связь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65" dirty="0">
                <a:solidFill>
                  <a:srgbClr val="535353"/>
                </a:solidFill>
                <a:latin typeface="Tahoma"/>
                <a:cs typeface="Tahoma"/>
              </a:rPr>
              <a:t>с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15" dirty="0">
                <a:solidFill>
                  <a:srgbClr val="535353"/>
                </a:solidFill>
                <a:latin typeface="Tahoma"/>
                <a:cs typeface="Tahoma"/>
              </a:rPr>
              <a:t>родными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5" dirty="0">
                <a:solidFill>
                  <a:srgbClr val="535353"/>
                </a:solidFill>
                <a:latin typeface="Tahoma"/>
                <a:cs typeface="Tahoma"/>
              </a:rPr>
              <a:t>и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10" dirty="0">
                <a:solidFill>
                  <a:srgbClr val="535353"/>
                </a:solidFill>
                <a:latin typeface="Tahoma"/>
                <a:cs typeface="Tahoma"/>
              </a:rPr>
              <a:t>друзьями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-710" dirty="0">
                <a:solidFill>
                  <a:srgbClr val="535353"/>
                </a:solidFill>
                <a:latin typeface="Tahoma"/>
                <a:cs typeface="Tahoma"/>
              </a:rPr>
              <a:t>—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0" dirty="0">
                <a:solidFill>
                  <a:srgbClr val="535353"/>
                </a:solidFill>
                <a:latin typeface="Tahoma"/>
                <a:cs typeface="Tahoma"/>
              </a:rPr>
              <a:t>какие </a:t>
            </a:r>
            <a:r>
              <a:rPr sz="2350" spc="240" dirty="0">
                <a:solidFill>
                  <a:srgbClr val="535353"/>
                </a:solidFill>
                <a:latin typeface="Tahoma"/>
                <a:cs typeface="Tahoma"/>
              </a:rPr>
              <a:t>интернет-</a:t>
            </a:r>
            <a:r>
              <a:rPr sz="2350" spc="305" dirty="0">
                <a:solidFill>
                  <a:srgbClr val="535353"/>
                </a:solidFill>
                <a:latin typeface="Tahoma"/>
                <a:cs typeface="Tahoma"/>
              </a:rPr>
              <a:t>сервисы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0" dirty="0">
                <a:solidFill>
                  <a:srgbClr val="535353"/>
                </a:solidFill>
                <a:latin typeface="Tahoma"/>
                <a:cs typeface="Tahoma"/>
              </a:rPr>
              <a:t>работают</a:t>
            </a:r>
            <a:r>
              <a:rPr sz="235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70" dirty="0">
                <a:solidFill>
                  <a:srgbClr val="535353"/>
                </a:solidFill>
                <a:latin typeface="Tahoma"/>
                <a:cs typeface="Tahoma"/>
              </a:rPr>
              <a:t>в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95" dirty="0">
                <a:solidFill>
                  <a:srgbClr val="535353"/>
                </a:solidFill>
                <a:latin typeface="Tahoma"/>
                <a:cs typeface="Tahoma"/>
              </a:rPr>
              <a:t>Китае?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Clr>
                <a:srgbClr val="535353"/>
              </a:buClr>
              <a:buFont typeface="Tahoma"/>
              <a:buAutoNum type="arabicPeriod"/>
            </a:pPr>
            <a:endParaRPr sz="2350">
              <a:latin typeface="Tahoma"/>
              <a:cs typeface="Tahoma"/>
            </a:endParaRPr>
          </a:p>
          <a:p>
            <a:pPr marL="408305" indent="-395605">
              <a:lnSpc>
                <a:spcPct val="100000"/>
              </a:lnSpc>
              <a:buAutoNum type="arabicPeriod"/>
              <a:tabLst>
                <a:tab pos="408305" algn="l"/>
              </a:tabLst>
            </a:pPr>
            <a:r>
              <a:rPr sz="2350" spc="305" dirty="0">
                <a:solidFill>
                  <a:srgbClr val="535353"/>
                </a:solidFill>
                <a:latin typeface="Tahoma"/>
                <a:cs typeface="Tahoma"/>
              </a:rPr>
              <a:t>Сложно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0" dirty="0">
                <a:solidFill>
                  <a:srgbClr val="535353"/>
                </a:solidFill>
                <a:latin typeface="Tahoma"/>
                <a:cs typeface="Tahoma"/>
              </a:rPr>
              <a:t>ли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45" dirty="0">
                <a:solidFill>
                  <a:srgbClr val="535353"/>
                </a:solidFill>
                <a:latin typeface="Tahoma"/>
                <a:cs typeface="Tahoma"/>
              </a:rPr>
              <a:t>учить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5" dirty="0">
                <a:solidFill>
                  <a:srgbClr val="535353"/>
                </a:solidFill>
                <a:latin typeface="Tahoma"/>
                <a:cs typeface="Tahoma"/>
              </a:rPr>
              <a:t>китайский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15" dirty="0">
                <a:solidFill>
                  <a:srgbClr val="535353"/>
                </a:solidFill>
                <a:latin typeface="Tahoma"/>
                <a:cs typeface="Tahoma"/>
              </a:rPr>
              <a:t>язык?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535353"/>
              </a:buClr>
              <a:buFont typeface="Tahoma"/>
              <a:buAutoNum type="arabicPeriod"/>
            </a:pPr>
            <a:endParaRPr sz="2350">
              <a:latin typeface="Tahoma"/>
              <a:cs typeface="Tahoma"/>
            </a:endParaRPr>
          </a:p>
          <a:p>
            <a:pPr marL="12700" marR="647065" indent="401955">
              <a:lnSpc>
                <a:spcPct val="115799"/>
              </a:lnSpc>
              <a:buAutoNum type="arabicPeriod"/>
              <a:tabLst>
                <a:tab pos="414655" algn="l"/>
              </a:tabLst>
            </a:pPr>
            <a:r>
              <a:rPr sz="2350" spc="310" dirty="0">
                <a:solidFill>
                  <a:srgbClr val="535353"/>
                </a:solidFill>
                <a:latin typeface="Tahoma"/>
                <a:cs typeface="Tahoma"/>
              </a:rPr>
              <a:t>Могут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0" dirty="0">
                <a:solidFill>
                  <a:srgbClr val="535353"/>
                </a:solidFill>
                <a:latin typeface="Tahoma"/>
                <a:cs typeface="Tahoma"/>
              </a:rPr>
              <a:t>ли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70" dirty="0">
                <a:solidFill>
                  <a:srgbClr val="535353"/>
                </a:solidFill>
                <a:latin typeface="Tahoma"/>
                <a:cs typeface="Tahoma"/>
              </a:rPr>
              <a:t>иностранные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85" dirty="0">
                <a:solidFill>
                  <a:srgbClr val="535353"/>
                </a:solidFill>
                <a:latin typeface="Tahoma"/>
                <a:cs typeface="Tahoma"/>
              </a:rPr>
              <a:t>студенты</a:t>
            </a:r>
            <a:r>
              <a:rPr sz="235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0" dirty="0">
                <a:solidFill>
                  <a:srgbClr val="535353"/>
                </a:solidFill>
                <a:latin typeface="Tahoma"/>
                <a:cs typeface="Tahoma"/>
              </a:rPr>
              <a:t>работать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0" dirty="0">
                <a:solidFill>
                  <a:srgbClr val="535353"/>
                </a:solidFill>
                <a:latin typeface="Tahoma"/>
                <a:cs typeface="Tahoma"/>
              </a:rPr>
              <a:t>во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85" dirty="0">
                <a:solidFill>
                  <a:srgbClr val="535353"/>
                </a:solidFill>
                <a:latin typeface="Tahoma"/>
                <a:cs typeface="Tahoma"/>
              </a:rPr>
              <a:t>время </a:t>
            </a:r>
            <a:r>
              <a:rPr sz="2350" spc="275" dirty="0">
                <a:solidFill>
                  <a:srgbClr val="535353"/>
                </a:solidFill>
                <a:latin typeface="Tahoma"/>
                <a:cs typeface="Tahoma"/>
              </a:rPr>
              <a:t>учебы?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535353"/>
              </a:buClr>
              <a:buFont typeface="Tahoma"/>
              <a:buAutoNum type="arabicPeriod"/>
            </a:pPr>
            <a:endParaRPr sz="2350">
              <a:latin typeface="Tahoma"/>
              <a:cs typeface="Tahoma"/>
            </a:endParaRPr>
          </a:p>
          <a:p>
            <a:pPr marL="12700" marR="313055" indent="410209">
              <a:lnSpc>
                <a:spcPct val="115799"/>
              </a:lnSpc>
              <a:buAutoNum type="arabicPeriod"/>
              <a:tabLst>
                <a:tab pos="422909" algn="l"/>
              </a:tabLst>
            </a:pPr>
            <a:r>
              <a:rPr sz="2350" spc="335" dirty="0">
                <a:solidFill>
                  <a:srgbClr val="535353"/>
                </a:solidFill>
                <a:latin typeface="Tahoma"/>
                <a:cs typeface="Tahoma"/>
              </a:rPr>
              <a:t>Можно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0" dirty="0">
                <a:solidFill>
                  <a:srgbClr val="535353"/>
                </a:solidFill>
                <a:latin typeface="Tahoma"/>
                <a:cs typeface="Tahoma"/>
              </a:rPr>
              <a:t>ли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5" dirty="0">
                <a:solidFill>
                  <a:srgbClr val="535353"/>
                </a:solidFill>
                <a:latin typeface="Tahoma"/>
                <a:cs typeface="Tahoma"/>
              </a:rPr>
              <a:t>путешествовать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0" dirty="0">
                <a:solidFill>
                  <a:srgbClr val="535353"/>
                </a:solidFill>
                <a:latin typeface="Tahoma"/>
                <a:cs typeface="Tahoma"/>
              </a:rPr>
              <a:t>по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00" dirty="0">
                <a:solidFill>
                  <a:srgbClr val="535353"/>
                </a:solidFill>
                <a:latin typeface="Tahoma"/>
                <a:cs typeface="Tahoma"/>
              </a:rPr>
              <a:t>Китаю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70" dirty="0">
                <a:solidFill>
                  <a:srgbClr val="535353"/>
                </a:solidFill>
                <a:latin typeface="Tahoma"/>
                <a:cs typeface="Tahoma"/>
              </a:rPr>
              <a:t>на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0" dirty="0">
                <a:solidFill>
                  <a:srgbClr val="535353"/>
                </a:solidFill>
                <a:latin typeface="Tahoma"/>
                <a:cs typeface="Tahoma"/>
              </a:rPr>
              <a:t>студенческой </a:t>
            </a:r>
            <a:r>
              <a:rPr sz="2350" spc="295" dirty="0">
                <a:solidFill>
                  <a:srgbClr val="535353"/>
                </a:solidFill>
                <a:latin typeface="Tahoma"/>
                <a:cs typeface="Tahoma"/>
              </a:rPr>
              <a:t>визе?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Clr>
                <a:srgbClr val="535353"/>
              </a:buClr>
              <a:buFont typeface="Tahoma"/>
              <a:buAutoNum type="arabicPeriod"/>
            </a:pPr>
            <a:endParaRPr sz="2350">
              <a:latin typeface="Tahoma"/>
              <a:cs typeface="Tahoma"/>
            </a:endParaRPr>
          </a:p>
          <a:p>
            <a:pPr marL="415290" indent="-40259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15290" algn="l"/>
              </a:tabLst>
            </a:pPr>
            <a:r>
              <a:rPr sz="2350" spc="270" dirty="0">
                <a:solidFill>
                  <a:srgbClr val="535353"/>
                </a:solidFill>
                <a:latin typeface="Tahoma"/>
                <a:cs typeface="Tahoma"/>
              </a:rPr>
              <a:t>Что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15" dirty="0">
                <a:solidFill>
                  <a:srgbClr val="535353"/>
                </a:solidFill>
                <a:latin typeface="Tahoma"/>
                <a:cs typeface="Tahoma"/>
              </a:rPr>
              <a:t>делать,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80" dirty="0">
                <a:solidFill>
                  <a:srgbClr val="535353"/>
                </a:solidFill>
                <a:latin typeface="Tahoma"/>
                <a:cs typeface="Tahoma"/>
              </a:rPr>
              <a:t>если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25" dirty="0">
                <a:solidFill>
                  <a:srgbClr val="535353"/>
                </a:solidFill>
                <a:latin typeface="Tahoma"/>
                <a:cs typeface="Tahoma"/>
              </a:rPr>
              <a:t>за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4" dirty="0">
                <a:solidFill>
                  <a:srgbClr val="535353"/>
                </a:solidFill>
                <a:latin typeface="Tahoma"/>
                <a:cs typeface="Tahoma"/>
              </a:rPr>
              <a:t>год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45" dirty="0">
                <a:solidFill>
                  <a:srgbClr val="535353"/>
                </a:solidFill>
                <a:latin typeface="Tahoma"/>
                <a:cs typeface="Tahoma"/>
              </a:rPr>
              <a:t>не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90" dirty="0">
                <a:solidFill>
                  <a:srgbClr val="535353"/>
                </a:solidFill>
                <a:latin typeface="Tahoma"/>
                <a:cs typeface="Tahoma"/>
              </a:rPr>
              <a:t>успеешь</a:t>
            </a:r>
            <a:r>
              <a:rPr sz="2350" spc="10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65" dirty="0">
                <a:solidFill>
                  <a:srgbClr val="535353"/>
                </a:solidFill>
                <a:latin typeface="Tahoma"/>
                <a:cs typeface="Tahoma"/>
              </a:rPr>
              <a:t>выучить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15" dirty="0">
                <a:solidFill>
                  <a:srgbClr val="535353"/>
                </a:solidFill>
                <a:latin typeface="Tahoma"/>
                <a:cs typeface="Tahoma"/>
              </a:rPr>
              <a:t>язык?</a:t>
            </a:r>
            <a:endParaRPr sz="2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69"/>
              </a:spcBef>
              <a:buClr>
                <a:srgbClr val="535353"/>
              </a:buClr>
              <a:buFont typeface="Tahoma"/>
              <a:buAutoNum type="arabicPeriod"/>
            </a:pPr>
            <a:endParaRPr sz="2350">
              <a:latin typeface="Tahoma"/>
              <a:cs typeface="Tahoma"/>
            </a:endParaRPr>
          </a:p>
          <a:p>
            <a:pPr marL="421005" indent="-408305">
              <a:lnSpc>
                <a:spcPct val="100000"/>
              </a:lnSpc>
              <a:buAutoNum type="arabicPeriod"/>
              <a:tabLst>
                <a:tab pos="421005" algn="l"/>
              </a:tabLst>
            </a:pPr>
            <a:r>
              <a:rPr sz="2350" spc="330" dirty="0">
                <a:solidFill>
                  <a:srgbClr val="535353"/>
                </a:solidFill>
                <a:latin typeface="Tahoma"/>
                <a:cs typeface="Tahoma"/>
              </a:rPr>
              <a:t>Как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4" dirty="0">
                <a:solidFill>
                  <a:srgbClr val="535353"/>
                </a:solidFill>
                <a:latin typeface="Tahoma"/>
                <a:cs typeface="Tahoma"/>
              </a:rPr>
              <a:t>переводить</a:t>
            </a:r>
            <a:r>
              <a:rPr sz="235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54" dirty="0">
                <a:solidFill>
                  <a:srgbClr val="535353"/>
                </a:solidFill>
                <a:latin typeface="Tahoma"/>
                <a:cs typeface="Tahoma"/>
              </a:rPr>
              <a:t>деньги</a:t>
            </a:r>
            <a:r>
              <a:rPr sz="2350" spc="110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270" dirty="0">
                <a:solidFill>
                  <a:srgbClr val="535353"/>
                </a:solidFill>
                <a:latin typeface="Tahoma"/>
                <a:cs typeface="Tahoma"/>
              </a:rPr>
              <a:t>в</a:t>
            </a:r>
            <a:r>
              <a:rPr sz="2350" spc="105" dirty="0">
                <a:solidFill>
                  <a:srgbClr val="535353"/>
                </a:solidFill>
                <a:latin typeface="Tahoma"/>
                <a:cs typeface="Tahoma"/>
              </a:rPr>
              <a:t> </a:t>
            </a:r>
            <a:r>
              <a:rPr sz="2350" spc="300" dirty="0">
                <a:solidFill>
                  <a:srgbClr val="535353"/>
                </a:solidFill>
                <a:latin typeface="Tahoma"/>
                <a:cs typeface="Tahoma"/>
              </a:rPr>
              <a:t>Китай?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9258308"/>
            <a:ext cx="2419349" cy="542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1000156"/>
            <a:ext cx="79489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495" dirty="0">
                <a:solidFill>
                  <a:srgbClr val="070707"/>
                </a:solidFill>
              </a:rPr>
              <a:t>Часто</a:t>
            </a:r>
            <a:r>
              <a:rPr sz="4000" spc="145" dirty="0">
                <a:solidFill>
                  <a:srgbClr val="070707"/>
                </a:solidFill>
              </a:rPr>
              <a:t> </a:t>
            </a:r>
            <a:r>
              <a:rPr sz="4000" spc="540" dirty="0">
                <a:solidFill>
                  <a:srgbClr val="070707"/>
                </a:solidFill>
              </a:rPr>
              <a:t>задаваемые</a:t>
            </a:r>
            <a:r>
              <a:rPr sz="4000" spc="155" dirty="0">
                <a:solidFill>
                  <a:srgbClr val="070707"/>
                </a:solidFill>
              </a:rPr>
              <a:t> </a:t>
            </a:r>
            <a:r>
              <a:rPr sz="4000" spc="475" dirty="0">
                <a:solidFill>
                  <a:srgbClr val="070707"/>
                </a:solidFill>
              </a:rPr>
              <a:t>вопросы</a:t>
            </a:r>
            <a:endParaRPr sz="40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7524" y="3378189"/>
            <a:ext cx="7607290" cy="69088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</TotalTime>
  <Words>1179</Words>
  <Application>Microsoft Office PowerPoint</Application>
  <PresentationFormat>Custom</PresentationFormat>
  <Paragraphs>142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Tahoma</vt:lpstr>
      <vt:lpstr>Office Theme</vt:lpstr>
      <vt:lpstr>Александр</vt:lpstr>
      <vt:lpstr>Правительственный грант (CSC)</vt:lpstr>
      <vt:lpstr>Шелковый путь - грант Китайского правительства</vt:lpstr>
      <vt:lpstr>Провинциальный грант</vt:lpstr>
      <vt:lpstr>Стипендии городов - локальный грант</vt:lpstr>
      <vt:lpstr>Университетский грант</vt:lpstr>
      <vt:lpstr>Языковой год</vt:lpstr>
      <vt:lpstr>Наши принципы при выборе университета</vt:lpstr>
      <vt:lpstr>Требуемые документы</vt:lpstr>
      <vt:lpstr>Требуемые документы</vt:lpstr>
      <vt:lpstr>Пример медкомиссии</vt:lpstr>
      <vt:lpstr>Выбор Университетов</vt:lpstr>
      <vt:lpstr>Nanjing University of Aeronautics and Astronautics (NUAA)</vt:lpstr>
      <vt:lpstr>Nanjing University of Aeronautics and Astronautics (NUAA)</vt:lpstr>
      <vt:lpstr>PowerPoint Presentation</vt:lpstr>
      <vt:lpstr>Northwestern Polytechnical University</vt:lpstr>
      <vt:lpstr>Northwestern Polytechnical University</vt:lpstr>
      <vt:lpstr>PowerPoint Presentation</vt:lpstr>
      <vt:lpstr>Beijing Institute of Technology (BIT)</vt:lpstr>
      <vt:lpstr>Beijing Institute of Technology (BIT)</vt:lpstr>
      <vt:lpstr>PowerPoint Presentation</vt:lpstr>
      <vt:lpstr>Nanjing Tech University </vt:lpstr>
      <vt:lpstr>Jiangsu University</vt:lpstr>
      <vt:lpstr>Harbin Institute of Technology (HIT)</vt:lpstr>
      <vt:lpstr>Часто задаваемые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(менеджмент, маркетинг)Презентация для платной консультации</dc:title>
  <dc:creator>Svetlana Roshenskaia</dc:creator>
  <cp:keywords>DAG1XsHZO_w,BAGBVSb1iMY,0</cp:keywords>
  <cp:lastModifiedBy>Serdotetskov Alex</cp:lastModifiedBy>
  <cp:revision>3</cp:revision>
  <dcterms:created xsi:type="dcterms:W3CDTF">2026-01-19T12:36:47Z</dcterms:created>
  <dcterms:modified xsi:type="dcterms:W3CDTF">2026-09-13T07:02:52Z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2026-01-19T00:00:00Z</vt:filetime>
  </property>
  <property fmtid="{D5CDD505-2E9C-101B-9397-08002B2CF9AE}" pid="5" name="Producer">
    <vt:lpwstr>Canva</vt:lpwstr>
  </property>
</Properties>
</file>